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9144000"/>
  <p:notesSz cx="6858000" cy="9144000"/>
  <p:embeddedFontLst>
    <p:embeddedFont>
      <p:font typeface="Helvetica Neue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gwbYntfU21MZo4Y+eSr7WbnOv4z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Simon Becker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7C7A048-788E-4221-BDCF-EF30B4AAEF08}">
  <a:tblStyle styleId="{B7C7A048-788E-4221-BDCF-EF30B4AAEF0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font" Target="fonts/HelveticaNeue-regular.fntdata"/><Relationship Id="rId14" Type="http://schemas.openxmlformats.org/officeDocument/2006/relationships/slide" Target="slides/slide8.xml"/><Relationship Id="rId17" Type="http://schemas.openxmlformats.org/officeDocument/2006/relationships/font" Target="fonts/HelveticaNeue-italic.fntdata"/><Relationship Id="rId16" Type="http://schemas.openxmlformats.org/officeDocument/2006/relationships/font" Target="fonts/HelveticaNeue-bold.fntdata"/><Relationship Id="rId5" Type="http://schemas.openxmlformats.org/officeDocument/2006/relationships/slideMaster" Target="slideMasters/slideMaster1.xml"/><Relationship Id="rId19" Type="http://customschemas.google.com/relationships/presentationmetadata" Target="metadata"/><Relationship Id="rId6" Type="http://schemas.openxmlformats.org/officeDocument/2006/relationships/notesMaster" Target="notesMasters/notesMaster1.xml"/><Relationship Id="rId18" Type="http://schemas.openxmlformats.org/officeDocument/2006/relationships/font" Target="fonts/HelveticaNeue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9-23T19:35:40.858">
    <p:pos x="6000" y="0"/>
    <p:text>This figure should clearly show what HW &amp; SW are being developed / integrated into each subsystem. Some interconnected boxes showing how subsystems will be connected for system.
Owner should be clear … name and color code
Interfaces – arrows between boxes, where known should be labeled…Bluetooth, I2C, Websocket
Push notifications, USB, LORA, …
NOT TOO MUCH DETAIL!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pIHY3T8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1" name="Google Shape;6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Cloud server and database</a:t>
            </a:r>
            <a:endParaRPr/>
          </a:p>
        </p:txBody>
      </p:sp>
      <p:sp>
        <p:nvSpPr>
          <p:cNvPr id="71" name="Google Shape;7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DLCOE_logo_HWHT.png" id="23" name="Google Shape;2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27491" cy="412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2" type="body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12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5"/>
          <p:cNvSpPr txBox="1"/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" name="Google Shape;45;p15"/>
          <p:cNvSpPr/>
          <p:nvPr>
            <p:ph idx="2" type="pic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1.xml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ECE</a:t>
            </a:r>
            <a:r>
              <a:rPr lang="en-US"/>
              <a:t>N</a:t>
            </a:r>
            <a: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403</a:t>
            </a:r>
            <a:br>
              <a:rPr b="1" i="0" lang="en-US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Midterm Presentation</a:t>
            </a:r>
            <a:endParaRPr b="1" i="0" sz="3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0" y="0"/>
            <a:ext cx="6111300" cy="6111300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LCOE_logo_HWHT.png" id="56" name="Google Shape;5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093334" cy="52561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>
            <p:ph idx="1" type="subTitle"/>
          </p:nvPr>
        </p:nvSpPr>
        <p:spPr>
          <a:xfrm>
            <a:off x="3124200" y="3478369"/>
            <a:ext cx="5334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/>
              <a:t>Team 50: BioMetrix</a:t>
            </a:r>
            <a: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/>
              <a:t>Simon Becker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Andrew-Joseph Nicolas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Lance Pagaduan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/>
              <a:t>Harin Sankar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/>
              <a:t>TA: Hailey Ward 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lang="en-US"/>
              <a:t>Sponsor: Dr. Stephen Wright</a:t>
            </a:r>
            <a:br>
              <a:rPr lang="en-US"/>
            </a:br>
            <a:endParaRPr/>
          </a:p>
        </p:txBody>
      </p:sp>
      <p:sp>
        <p:nvSpPr>
          <p:cNvPr id="58" name="Google Shape;58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>
            <p:ph idx="1" type="body"/>
          </p:nvPr>
        </p:nvSpPr>
        <p:spPr>
          <a:xfrm>
            <a:off x="376725" y="1852933"/>
            <a:ext cx="5359500" cy="4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 statement</a:t>
            </a: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/>
          </a:p>
          <a:p>
            <a:pPr indent="-355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Current ECG-based cardiac gating is time-consuming, intrusive, and uncomfortable.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Our Solution:</a:t>
            </a:r>
            <a:endParaRPr/>
          </a:p>
          <a:p>
            <a:pPr indent="-355600" lvl="0" marL="45720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Using Doppler radar technology to monitor cardiac movement improves patient throughput and comfort.</a:t>
            </a:r>
            <a:endParaRPr b="0" i="0" sz="2000" u="none" cap="none" strike="noStrik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" name="Google Shape;64;p2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Contactless Cardiac Gating</a:t>
            </a:r>
            <a:endParaRPr/>
          </a:p>
        </p:txBody>
      </p:sp>
      <p:sp>
        <p:nvSpPr>
          <p:cNvPr id="65" name="Google Shape;65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8125" y="2241975"/>
            <a:ext cx="3602951" cy="1621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2"/>
          <p:cNvSpPr txBox="1"/>
          <p:nvPr/>
        </p:nvSpPr>
        <p:spPr>
          <a:xfrm>
            <a:off x="5378125" y="3825002"/>
            <a:ext cx="3603000" cy="6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i="1" lang="en-US" sz="1200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Optimizing MRI Logistics: Prospective Analysis of Performance, Efficiency, and Patient Throughput</a:t>
            </a:r>
            <a:r>
              <a:rPr lang="en-US" sz="1200">
                <a:solidFill>
                  <a:srgbClr val="9999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by Beker, et. al., 2017</a:t>
            </a:r>
            <a:endParaRPr sz="1200">
              <a:solidFill>
                <a:srgbClr val="9999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5378125" y="1852925"/>
            <a:ext cx="36030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Figure 1.</a:t>
            </a:r>
            <a:endParaRPr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MRI </a:t>
            </a:r>
            <a:r>
              <a:rPr i="1"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Utilization</a:t>
            </a:r>
            <a:endParaRPr i="1" sz="1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 txBox="1"/>
          <p:nvPr>
            <p:ph type="title"/>
          </p:nvPr>
        </p:nvSpPr>
        <p:spPr>
          <a:xfrm>
            <a:off x="457200" y="823036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</a:pPr>
            <a:r>
              <a:rPr i="0" lang="en-US" u="none" cap="none" strike="noStrike">
                <a:solidFill>
                  <a:schemeClr val="dk1"/>
                </a:solidFill>
              </a:rPr>
              <a:t>System</a:t>
            </a:r>
            <a:r>
              <a:rPr lang="en-US"/>
              <a:t> Overview</a:t>
            </a:r>
            <a:endParaRPr/>
          </a:p>
        </p:txBody>
      </p:sp>
      <p:sp>
        <p:nvSpPr>
          <p:cNvPr id="74" name="Google Shape;7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p3" title="Block Diagram Presenta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800" y="1703001"/>
            <a:ext cx="7922399" cy="457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PCB – Andrew</a:t>
            </a:r>
            <a:endParaRPr/>
          </a:p>
        </p:txBody>
      </p:sp>
      <p:sp>
        <p:nvSpPr>
          <p:cNvPr id="81" name="Google Shape;81;p4"/>
          <p:cNvSpPr txBox="1"/>
          <p:nvPr>
            <p:ph idx="12" type="sldNum"/>
          </p:nvPr>
        </p:nvSpPr>
        <p:spPr>
          <a:xfrm>
            <a:off x="8525300" y="6335375"/>
            <a:ext cx="402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4"/>
          <p:cNvSpPr txBox="1"/>
          <p:nvPr>
            <p:ph idx="1" type="body"/>
          </p:nvPr>
        </p:nvSpPr>
        <p:spPr>
          <a:xfrm>
            <a:off x="457200" y="3686701"/>
            <a:ext cx="8068200" cy="30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Maintains consistent power distribution and handles radar input and output.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Multisim is being used to create and simulate the circuit and Altium is being used to create the PCB.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The main objectives are to take delicate output signals from the mmW radar and maintain integrity, as well as distribute power accordingly.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The main subsystem it is connected to is the MCU, as this is where the radar output signals will be sent to.</a:t>
            </a:r>
            <a:endParaRPr sz="18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MmW Radar Sensor, 2 7.4V Li-ion batteries with BMS, and non-ferromagnetic PCB are the main parts of this subsystem.</a:t>
            </a:r>
            <a:endParaRPr sz="1800"/>
          </a:p>
        </p:txBody>
      </p:sp>
      <p:pic>
        <p:nvPicPr>
          <p:cNvPr id="83" name="Google Shape;83;p4"/>
          <p:cNvPicPr preferRelativeResize="0"/>
          <p:nvPr/>
        </p:nvPicPr>
        <p:blipFill rotWithShape="1">
          <a:blip r:embed="rId3">
            <a:alphaModFix/>
          </a:blip>
          <a:srcRect b="0" l="0" r="0" t="36053"/>
          <a:stretch/>
        </p:blipFill>
        <p:spPr>
          <a:xfrm>
            <a:off x="3125788" y="1852873"/>
            <a:ext cx="2892428" cy="172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Microcontroller Unit (MCU) – Lance</a:t>
            </a:r>
            <a:endParaRPr/>
          </a:p>
        </p:txBody>
      </p:sp>
      <p:sp>
        <p:nvSpPr>
          <p:cNvPr id="89" name="Google Shape;89;p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" name="Google Shape;90;p5"/>
          <p:cNvSpPr txBox="1"/>
          <p:nvPr>
            <p:ph idx="1" type="body"/>
          </p:nvPr>
        </p:nvSpPr>
        <p:spPr>
          <a:xfrm>
            <a:off x="875262" y="4303500"/>
            <a:ext cx="7393500" cy="25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Takes doppler radar input and outputs cardiogram.</a:t>
            </a:r>
            <a:endParaRPr sz="18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Filters radar signals and divides signals into Heart rate (HR) and </a:t>
            </a:r>
            <a:r>
              <a:rPr lang="en-US" sz="1800"/>
              <a:t>Respiration</a:t>
            </a:r>
            <a:r>
              <a:rPr lang="en-US" sz="1800"/>
              <a:t> rate (RR).</a:t>
            </a:r>
            <a:endParaRPr sz="18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MCU:STM32F407G</a:t>
            </a:r>
            <a:r>
              <a:rPr lang="en-US" sz="1800"/>
              <a:t>, Simulation: MATLAB, Embedded software: </a:t>
            </a:r>
            <a:r>
              <a:rPr lang="en-US" sz="1800"/>
              <a:t>STM32Cube IDE.</a:t>
            </a:r>
            <a:endParaRPr sz="18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Requires clean doppler signal input, must amplify/separate signal outputs.</a:t>
            </a:r>
            <a:endParaRPr sz="18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Compares cardiogram data with MRI scan.</a:t>
            </a:r>
            <a:endParaRPr/>
          </a:p>
        </p:txBody>
      </p:sp>
      <p:pic>
        <p:nvPicPr>
          <p:cNvPr id="91" name="Google Shape;91;p5" title="MCU-Subsystem.drawi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4063" y="1924812"/>
            <a:ext cx="4095926" cy="230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5" title="STM3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8113" y="2005277"/>
            <a:ext cx="2145824" cy="2145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 txBox="1"/>
          <p:nvPr>
            <p:ph type="title"/>
          </p:nvPr>
        </p:nvSpPr>
        <p:spPr>
          <a:xfrm>
            <a:off x="164375" y="940302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Scan Filter – Harin</a:t>
            </a:r>
            <a:endParaRPr/>
          </a:p>
        </p:txBody>
      </p:sp>
      <p:sp>
        <p:nvSpPr>
          <p:cNvPr id="98" name="Google Shape;98;p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6"/>
          <p:cNvSpPr txBox="1"/>
          <p:nvPr>
            <p:ph idx="1" type="body"/>
          </p:nvPr>
        </p:nvSpPr>
        <p:spPr>
          <a:xfrm>
            <a:off x="530475" y="3914950"/>
            <a:ext cx="82296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8750" lvl="0" marL="342900" rtl="0" algn="l"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1800"/>
              <a:t> </a:t>
            </a:r>
            <a:r>
              <a:rPr lang="en-US" sz="1700"/>
              <a:t>Compares cardiogram data with MRI scan timestamps temporally to filter out unusable MRI scans.</a:t>
            </a:r>
            <a:endParaRPr sz="1700"/>
          </a:p>
          <a:p>
            <a:pPr indent="-1524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1700"/>
              <a:t> Developed in Python using libraries such as </a:t>
            </a:r>
            <a:r>
              <a:rPr i="1" lang="en-US" sz="1700"/>
              <a:t>pydicom, pandas</a:t>
            </a:r>
            <a:r>
              <a:rPr i="1" lang="en-US" sz="1700"/>
              <a:t>, numpy</a:t>
            </a:r>
            <a:r>
              <a:rPr i="1" lang="en-US" sz="1700"/>
              <a:t>, ext</a:t>
            </a:r>
            <a:r>
              <a:rPr lang="en-US" sz="1700"/>
              <a:t>.</a:t>
            </a:r>
            <a:endParaRPr sz="1700"/>
          </a:p>
          <a:p>
            <a:pPr indent="-1524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1700"/>
              <a:t> Provides accurate scan filtering, with constraints from the DICOM standard and abnormalities in cardiogram</a:t>
            </a:r>
            <a:endParaRPr sz="1700"/>
          </a:p>
          <a:p>
            <a:pPr indent="-1524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1700"/>
              <a:t> Receives input from the MCU subsystem and MRI machine, then outputs usable scans to the database subsystem.</a:t>
            </a:r>
            <a:endParaRPr sz="1700"/>
          </a:p>
          <a:p>
            <a:pPr indent="-152400" lvl="0" marL="3429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1700"/>
              <a:t> Python environment: medical libraries, ease of development, and integration</a:t>
            </a:r>
            <a:endParaRPr sz="1700"/>
          </a:p>
          <a:p>
            <a:pPr indent="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860325" y="2642424"/>
            <a:ext cx="1187400" cy="482400"/>
          </a:xfrm>
          <a:prstGeom prst="rect">
            <a:avLst/>
          </a:prstGeom>
          <a:solidFill>
            <a:schemeClr val="lt2"/>
          </a:solidFill>
          <a:ln cap="flat" cmpd="sng" w="8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1642" rotWithShape="0" algn="bl" dir="5400000" dist="17214">
              <a:srgbClr val="000000">
                <a:alpha val="50000"/>
              </a:srgbClr>
            </a:outerShdw>
          </a:effectLst>
        </p:spPr>
        <p:txBody>
          <a:bodyPr anchorCtr="0" anchor="ctr" bIns="82600" lIns="82600" spcFirstLastPara="1" rIns="82600" wrap="square" tIns="82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5"/>
              <a:t>Cardiogram</a:t>
            </a:r>
            <a:endParaRPr sz="1265">
              <a:highlight>
                <a:srgbClr val="00FF00"/>
              </a:highlight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3097858" y="2629355"/>
            <a:ext cx="1187400" cy="482400"/>
          </a:xfrm>
          <a:prstGeom prst="rect">
            <a:avLst/>
          </a:prstGeom>
          <a:solidFill>
            <a:schemeClr val="lt2"/>
          </a:solidFill>
          <a:ln cap="flat" cmpd="sng" w="8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600" lIns="82600" spcFirstLastPara="1" rIns="82600" wrap="square" tIns="82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5"/>
              <a:t>Temporal Synchronizer </a:t>
            </a:r>
            <a:endParaRPr sz="1265"/>
          </a:p>
        </p:txBody>
      </p:sp>
      <p:sp>
        <p:nvSpPr>
          <p:cNvPr id="102" name="Google Shape;102;p6"/>
          <p:cNvSpPr/>
          <p:nvPr/>
        </p:nvSpPr>
        <p:spPr>
          <a:xfrm>
            <a:off x="3234639" y="3540849"/>
            <a:ext cx="1034400" cy="482400"/>
          </a:xfrm>
          <a:prstGeom prst="rect">
            <a:avLst/>
          </a:prstGeom>
          <a:solidFill>
            <a:schemeClr val="lt2"/>
          </a:solidFill>
          <a:ln cap="flat" cmpd="sng" w="8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600" lIns="82600" spcFirstLastPara="1" rIns="82600" wrap="square" tIns="82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5"/>
              <a:t>MRI Scans</a:t>
            </a:r>
            <a:endParaRPr sz="1265"/>
          </a:p>
        </p:txBody>
      </p:sp>
      <p:sp>
        <p:nvSpPr>
          <p:cNvPr id="103" name="Google Shape;103;p6"/>
          <p:cNvSpPr/>
          <p:nvPr/>
        </p:nvSpPr>
        <p:spPr>
          <a:xfrm>
            <a:off x="5117235" y="1744000"/>
            <a:ext cx="1403700" cy="482400"/>
          </a:xfrm>
          <a:prstGeom prst="rect">
            <a:avLst/>
          </a:prstGeom>
          <a:solidFill>
            <a:schemeClr val="lt2"/>
          </a:solidFill>
          <a:ln cap="flat" cmpd="sng" w="8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600" lIns="82600" spcFirstLastPara="1" rIns="82600" wrap="square" tIns="82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5"/>
              <a:t>Cardiac Steady State Identifier</a:t>
            </a:r>
            <a:endParaRPr sz="1265"/>
          </a:p>
        </p:txBody>
      </p:sp>
      <p:sp>
        <p:nvSpPr>
          <p:cNvPr id="104" name="Google Shape;104;p6"/>
          <p:cNvSpPr/>
          <p:nvPr/>
        </p:nvSpPr>
        <p:spPr>
          <a:xfrm>
            <a:off x="5190909" y="2642424"/>
            <a:ext cx="966000" cy="482400"/>
          </a:xfrm>
          <a:prstGeom prst="rect">
            <a:avLst/>
          </a:prstGeom>
          <a:solidFill>
            <a:schemeClr val="lt2"/>
          </a:solidFill>
          <a:ln cap="flat" cmpd="sng" w="8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600" lIns="82600" spcFirstLastPara="1" rIns="82600" wrap="square" tIns="82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5"/>
              <a:t>MRI Filter </a:t>
            </a:r>
            <a:endParaRPr sz="1265"/>
          </a:p>
        </p:txBody>
      </p:sp>
      <p:sp>
        <p:nvSpPr>
          <p:cNvPr id="105" name="Google Shape;105;p6"/>
          <p:cNvSpPr/>
          <p:nvPr/>
        </p:nvSpPr>
        <p:spPr>
          <a:xfrm>
            <a:off x="7109816" y="2642424"/>
            <a:ext cx="1187400" cy="482400"/>
          </a:xfrm>
          <a:prstGeom prst="rect">
            <a:avLst/>
          </a:prstGeom>
          <a:solidFill>
            <a:schemeClr val="lt2"/>
          </a:solidFill>
          <a:ln cap="flat" cmpd="sng" w="8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2600" lIns="82600" spcFirstLastPara="1" rIns="82600" wrap="square" tIns="82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65"/>
              <a:t>Filtered MRI Scans</a:t>
            </a:r>
            <a:endParaRPr sz="1265"/>
          </a:p>
        </p:txBody>
      </p:sp>
      <p:cxnSp>
        <p:nvCxnSpPr>
          <p:cNvPr id="106" name="Google Shape;106;p6"/>
          <p:cNvCxnSpPr>
            <a:stCxn id="100" idx="3"/>
            <a:endCxn id="101" idx="1"/>
          </p:cNvCxnSpPr>
          <p:nvPr/>
        </p:nvCxnSpPr>
        <p:spPr>
          <a:xfrm flipH="1" rot="10800000">
            <a:off x="2047725" y="2870424"/>
            <a:ext cx="1050000" cy="13200"/>
          </a:xfrm>
          <a:prstGeom prst="straightConnector1">
            <a:avLst/>
          </a:prstGeom>
          <a:noFill/>
          <a:ln cap="flat" cmpd="sng" w="86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" name="Google Shape;107;p6"/>
          <p:cNvCxnSpPr>
            <a:stCxn id="104" idx="3"/>
            <a:endCxn id="105" idx="1"/>
          </p:cNvCxnSpPr>
          <p:nvPr/>
        </p:nvCxnSpPr>
        <p:spPr>
          <a:xfrm>
            <a:off x="6156909" y="2883624"/>
            <a:ext cx="952800" cy="0"/>
          </a:xfrm>
          <a:prstGeom prst="straightConnector1">
            <a:avLst/>
          </a:prstGeom>
          <a:noFill/>
          <a:ln cap="flat" cmpd="sng" w="86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" name="Google Shape;108;p6"/>
          <p:cNvCxnSpPr>
            <a:stCxn id="101" idx="3"/>
            <a:endCxn id="104" idx="1"/>
          </p:cNvCxnSpPr>
          <p:nvPr/>
        </p:nvCxnSpPr>
        <p:spPr>
          <a:xfrm>
            <a:off x="4285258" y="2870555"/>
            <a:ext cx="905700" cy="13200"/>
          </a:xfrm>
          <a:prstGeom prst="straightConnector1">
            <a:avLst/>
          </a:prstGeom>
          <a:noFill/>
          <a:ln cap="flat" cmpd="sng" w="86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" name="Google Shape;109;p6"/>
          <p:cNvCxnSpPr>
            <a:stCxn id="102" idx="0"/>
          </p:cNvCxnSpPr>
          <p:nvPr/>
        </p:nvCxnSpPr>
        <p:spPr>
          <a:xfrm rot="10800000">
            <a:off x="3742839" y="3111249"/>
            <a:ext cx="9000" cy="429600"/>
          </a:xfrm>
          <a:prstGeom prst="straightConnector1">
            <a:avLst/>
          </a:prstGeom>
          <a:noFill/>
          <a:ln cap="flat" cmpd="sng" w="86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" name="Google Shape;110;p6"/>
          <p:cNvCxnSpPr>
            <a:endCxn id="104" idx="0"/>
          </p:cNvCxnSpPr>
          <p:nvPr/>
        </p:nvCxnSpPr>
        <p:spPr>
          <a:xfrm flipH="1">
            <a:off x="5673909" y="2226324"/>
            <a:ext cx="900" cy="416100"/>
          </a:xfrm>
          <a:prstGeom prst="straightConnector1">
            <a:avLst/>
          </a:prstGeom>
          <a:noFill/>
          <a:ln cap="flat" cmpd="sng" w="86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" name="Google Shape;111;p6"/>
          <p:cNvCxnSpPr>
            <a:stCxn id="100" idx="0"/>
            <a:endCxn id="103" idx="1"/>
          </p:cNvCxnSpPr>
          <p:nvPr/>
        </p:nvCxnSpPr>
        <p:spPr>
          <a:xfrm rot="-5400000">
            <a:off x="2957025" y="482124"/>
            <a:ext cx="657300" cy="3663300"/>
          </a:xfrm>
          <a:prstGeom prst="bentConnector2">
            <a:avLst/>
          </a:prstGeom>
          <a:noFill/>
          <a:ln cap="flat" cmpd="sng" w="86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/>
              <a:t>User Interface – Simon Becker</a:t>
            </a:r>
            <a:endParaRPr/>
          </a:p>
        </p:txBody>
      </p:sp>
      <p:sp>
        <p:nvSpPr>
          <p:cNvPr id="117" name="Google Shape;117;p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7"/>
          <p:cNvSpPr txBox="1"/>
          <p:nvPr>
            <p:ph idx="1" type="body"/>
          </p:nvPr>
        </p:nvSpPr>
        <p:spPr>
          <a:xfrm>
            <a:off x="457200" y="4167995"/>
            <a:ext cx="8229600" cy="30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Connects patients and providers</a:t>
            </a:r>
            <a:endParaRPr sz="18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Gives a space for medical providers to markup and comment on scans</a:t>
            </a:r>
            <a:endParaRPr sz="18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Empowers patients by giving them transparent access to medical documents</a:t>
            </a:r>
            <a:endParaRPr sz="18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Built for Windows in C# and encrypted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Secure, Transparent, Easy to Use, HIPAA Compliant</a:t>
            </a:r>
            <a:endParaRPr sz="1800"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Will take the data provided by the Scan Editing Software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Includes radar </a:t>
            </a:r>
            <a:r>
              <a:rPr lang="en-US" sz="1800"/>
              <a:t>targeting</a:t>
            </a:r>
            <a:r>
              <a:rPr lang="en-US" sz="1800"/>
              <a:t> system</a:t>
            </a:r>
            <a:endParaRPr/>
          </a:p>
        </p:txBody>
      </p:sp>
      <p:pic>
        <p:nvPicPr>
          <p:cNvPr id="119" name="Google Shape;11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5613" y="1852877"/>
            <a:ext cx="5632774" cy="20103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 txBox="1"/>
          <p:nvPr>
            <p:ph type="title"/>
          </p:nvPr>
        </p:nvSpPr>
        <p:spPr>
          <a:xfrm>
            <a:off x="15875" y="871576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Project Execution &amp; Validation </a:t>
            </a:r>
            <a:endParaRPr/>
          </a:p>
        </p:txBody>
      </p:sp>
      <p:sp>
        <p:nvSpPr>
          <p:cNvPr id="125" name="Google Shape;125;p8"/>
          <p:cNvSpPr txBox="1"/>
          <p:nvPr>
            <p:ph idx="12" type="sldNum"/>
          </p:nvPr>
        </p:nvSpPr>
        <p:spPr>
          <a:xfrm>
            <a:off x="8634525" y="6204075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26" name="Google Shape;126;p8"/>
          <p:cNvGraphicFramePr/>
          <p:nvPr/>
        </p:nvGraphicFramePr>
        <p:xfrm>
          <a:off x="704850" y="2347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{B7C7A048-788E-4221-BDCF-EF30B4AAEF08}</a:tableStyleId>
              </a:tblPr>
              <a:tblGrid>
                <a:gridCol w="1289050"/>
                <a:gridCol w="1289050"/>
                <a:gridCol w="1289050"/>
                <a:gridCol w="1289050"/>
                <a:gridCol w="1289050"/>
                <a:gridCol w="1289050"/>
              </a:tblGrid>
              <a:tr h="372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/>
                        <a:t>10/1</a:t>
                      </a:r>
                      <a:r>
                        <a:rPr b="1" lang="en-US" sz="1200" u="none" cap="none" strike="noStrike"/>
                        <a:t> - today</a:t>
                      </a:r>
                      <a:endParaRPr b="1" sz="12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10/</a:t>
                      </a:r>
                      <a:r>
                        <a:rPr b="1" lang="en-US" sz="1200"/>
                        <a:t>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10/2</a:t>
                      </a:r>
                      <a:r>
                        <a:rPr b="1" lang="en-US" sz="1200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11/</a:t>
                      </a:r>
                      <a:r>
                        <a:rPr b="1" lang="en-US" sz="1200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11/17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900"/>
                        <a:t>PCB</a:t>
                      </a:r>
                      <a:endParaRPr sz="9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900"/>
                        <a:t>Andrew Nicolas</a:t>
                      </a:r>
                      <a:endParaRPr b="1"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900"/>
                        <a:t>Design supporting circuit.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Create PCB based on circuit simulations and attach supporting components.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Test physical hardware and ensure integrity.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900"/>
                        <a:t>Test fully integrated power supply and PCB.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900"/>
                        <a:t>Validate signal integrity, power distribution, and general functionality.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900"/>
                        <a:t>MCU</a:t>
                      </a:r>
                      <a:endParaRPr sz="9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900"/>
                        <a:t>Lance Pagaduan</a:t>
                      </a:r>
                      <a:endParaRPr b="1"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900" u="none" cap="none" strike="noStrike"/>
                        <a:t>Acquire</a:t>
                      </a:r>
                      <a:r>
                        <a:rPr lang="en-US" sz="900"/>
                        <a:t> MCU &amp; dev board along with simulation software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Gather sample data &amp; be half complete with design of filter simulations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Test simulation data with samples</a:t>
                      </a: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 begin design filters on MCU</a:t>
                      </a:r>
                      <a:br>
                        <a:rPr lang="en-US" sz="900" u="none" cap="none" strike="noStrike">
                          <a:solidFill>
                            <a:schemeClr val="dk1"/>
                          </a:solidFill>
                        </a:rPr>
                      </a:b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900"/>
                        <a:t>Test MCU &amp; compare with simulation data using samples 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900"/>
                        <a:t>Programmed MCU will output correct data based on simulations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900"/>
                        <a:t>Scan Filter</a:t>
                      </a:r>
                      <a:endParaRPr sz="9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900"/>
                        <a:t>Harin Sankar</a:t>
                      </a:r>
                      <a:endParaRPr b="1"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900"/>
                        <a:t>Design data flow and code planning for MRI and gating </a:t>
                      </a:r>
                      <a:r>
                        <a:rPr lang="en-US" sz="900"/>
                        <a:t>comparison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/>
                        <a:t>Design code </a:t>
                      </a:r>
                      <a:r>
                        <a:rPr lang="en-US" sz="900"/>
                        <a:t>which outputs steady states in cardiogram </a:t>
                      </a:r>
                      <a:endParaRPr sz="9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Test cardiogram analysis with sample cardiograms and design MRI-cardio comparator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/>
                        <a:t>Test MRI-cardio comparator and design code to output a interpretable filtered MRI scan</a:t>
                      </a:r>
                      <a:endParaRPr sz="9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/>
                        <a:t>Validate all blocks for accuracy, precision, and test input ECG and MRI samples</a:t>
                      </a:r>
                      <a:endParaRPr sz="9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900"/>
                        <a:t>User Interface</a:t>
                      </a:r>
                      <a:r>
                        <a:rPr b="1" lang="en-US" sz="900" u="none" cap="none" strike="noStrike"/>
                        <a:t> </a:t>
                      </a:r>
                      <a:r>
                        <a:rPr b="1" lang="en-US" sz="900"/>
                        <a:t>Simon Becker</a:t>
                      </a:r>
                      <a:endParaRPr b="1" sz="9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900"/>
                        <a:t>Complete front- and back-end plan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Write desktop application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</a:rPr>
                        <a:t>Test 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desktop app</a:t>
                      </a: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</a:rPr>
                        <a:t>,</a:t>
                      </a:r>
                      <a:r>
                        <a:rPr lang="en-US" sz="900">
                          <a:solidFill>
                            <a:schemeClr val="dk1"/>
                          </a:solidFill>
                        </a:rPr>
                        <a:t> build server and web-app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900"/>
                        <a:t>Test web-app and server communication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900"/>
                        <a:t>Desktop app transfers data </a:t>
                      </a:r>
                      <a:r>
                        <a:rPr lang="en-US" sz="900"/>
                        <a:t>through server to web-app</a:t>
                      </a:r>
                      <a:endParaRPr sz="9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7" name="Google Shape;127;p8"/>
          <p:cNvSpPr txBox="1"/>
          <p:nvPr/>
        </p:nvSpPr>
        <p:spPr>
          <a:xfrm>
            <a:off x="952500" y="1800680"/>
            <a:ext cx="7239000" cy="9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Accomplished so far and key planned engineering milestones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Nowka, Kevin J.</dc:creator>
</cp:coreProperties>
</file>