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55" r:id="rId6"/>
    <p:sldMasterId id="214748366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gJ/QXh3uXoBQ6w8QcQx+4oZ0cZ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A211C6-7FC9-4F9E-8391-DF505E18A63F}">
  <a:tblStyle styleId="{B9A211C6-7FC9-4F9E-8391-DF505E18A63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customschemas.google.com/relationships/presentationmetadata" Target="metadata"/><Relationship Id="rId25" Type="http://schemas.openxmlformats.org/officeDocument/2006/relationships/slide" Target="slides/slide17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e0d8ecaa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Kyle</a:t>
            </a:r>
            <a:endParaRPr/>
          </a:p>
        </p:txBody>
      </p:sp>
      <p:sp>
        <p:nvSpPr>
          <p:cNvPr id="153" name="Google Shape;153;g3de0d8ecaac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e0d8ecaac_1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/>
              <a:t>Eric</a:t>
            </a:r>
            <a:endParaRPr/>
          </a:p>
        </p:txBody>
      </p:sp>
      <p:sp>
        <p:nvSpPr>
          <p:cNvPr id="162" name="Google Shape;162;g3de0d8ecaac_1_3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e06b5e29e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e06b5e29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Need to state what formulas and filters I used to code the MCU to calculate biometric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de06b5e29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e06b5e29e_0_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e06b5e29e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de06b5e29e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e06b5e29e_0_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de06b5e29e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de06b5e29e_0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e06b5e29e_1_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de06b5e29e_1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de06b5e29e_1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e06b5e29e_1_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de06b5e29e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de06b5e29e_1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e06b5e29e_2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de06b5e29e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de06b5e29e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e06b5e29e_4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de06b5e29e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de06b5e29e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e06b5e29e_4_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de06b5e29e_4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de06b5e29e_4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e0d8ecaac_1_2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de0d8ecaac_1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e0d8ecaac_1_1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de0d8ecaac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e0d8ecaac_1_1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de0d8ecaac_1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de06b5e29e_4_6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de06b5e29e_4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de06b5e29e_4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body"/>
          </p:nvPr>
        </p:nvSpPr>
        <p:spPr>
          <a:xfrm>
            <a:off x="457200" y="2049270"/>
            <a:ext cx="8229600" cy="40768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" name="Google Shape;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5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"/>
          <p:cNvSpPr txBox="1"/>
          <p:nvPr>
            <p:ph type="ctrTitle"/>
          </p:nvPr>
        </p:nvSpPr>
        <p:spPr>
          <a:xfrm>
            <a:off x="3969582" y="2130425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" type="subTitle"/>
          </p:nvPr>
        </p:nvSpPr>
        <p:spPr>
          <a:xfrm>
            <a:off x="3124200" y="3886200"/>
            <a:ext cx="533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457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0" name="Google Shape;30;p11"/>
          <p:cNvSpPr txBox="1"/>
          <p:nvPr>
            <p:ph idx="2" type="body"/>
          </p:nvPr>
        </p:nvSpPr>
        <p:spPr>
          <a:xfrm>
            <a:off x="4648200" y="1975644"/>
            <a:ext cx="4038600" cy="4150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1066968"/>
            <a:ext cx="3008313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3575050" y="1073720"/>
            <a:ext cx="5111750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1803850"/>
            <a:ext cx="3008313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4" name="Google Shape;4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/>
          <p:nvPr>
            <p:ph type="title"/>
          </p:nvPr>
        </p:nvSpPr>
        <p:spPr>
          <a:xfrm>
            <a:off x="457200" y="1196430"/>
            <a:ext cx="2573672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/>
          <p:nvPr>
            <p:ph idx="2" type="pic"/>
          </p:nvPr>
        </p:nvSpPr>
        <p:spPr>
          <a:xfrm>
            <a:off x="3200400" y="1196430"/>
            <a:ext cx="5486400" cy="4850287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4"/>
          <p:cNvSpPr txBox="1"/>
          <p:nvPr>
            <p:ph idx="1" type="body"/>
          </p:nvPr>
        </p:nvSpPr>
        <p:spPr>
          <a:xfrm>
            <a:off x="457200" y="1768043"/>
            <a:ext cx="2573672" cy="4278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e0d8ecaac_1_253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g3de0d8ecaac_1_253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g3de0d8ecaac_1_25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de0d8ecaac_1_25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g3de0d8ecaac_1_25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" name="Google Shape;66;g3de0d8ecaac_1_2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4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e0d8ecaac_1_260"/>
          <p:cNvSpPr txBox="1"/>
          <p:nvPr>
            <p:ph type="ctrTitle"/>
          </p:nvPr>
        </p:nvSpPr>
        <p:spPr>
          <a:xfrm>
            <a:off x="3969582" y="2130425"/>
            <a:ext cx="44886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3de0d8ecaac_1_260"/>
          <p:cNvSpPr txBox="1"/>
          <p:nvPr>
            <p:ph idx="1" type="subTitle"/>
          </p:nvPr>
        </p:nvSpPr>
        <p:spPr>
          <a:xfrm>
            <a:off x="3124200" y="3886200"/>
            <a:ext cx="5334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0" name="Google Shape;70;g3de0d8ecaac_1_26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g3de0d8ecaac_1_26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3de0d8ecaac_1_26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e0d8ecaac_1_266"/>
          <p:cNvSpPr txBox="1"/>
          <p:nvPr>
            <p:ph idx="1" type="body"/>
          </p:nvPr>
        </p:nvSpPr>
        <p:spPr>
          <a:xfrm>
            <a:off x="457200" y="1975644"/>
            <a:ext cx="4038600" cy="41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5" name="Google Shape;75;g3de0d8ecaac_1_266"/>
          <p:cNvSpPr txBox="1"/>
          <p:nvPr>
            <p:ph idx="2" type="body"/>
          </p:nvPr>
        </p:nvSpPr>
        <p:spPr>
          <a:xfrm>
            <a:off x="4648200" y="1975644"/>
            <a:ext cx="4038600" cy="41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6" name="Google Shape;76;g3de0d8ecaac_1_26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g3de0d8ecaac_1_26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de0d8ecaac_1_26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g3de0d8ecaac_1_26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e0d8ecaac_1_273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de0d8ecaac_1_27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g3de0d8ecaac_1_27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g3de0d8ecaac_1_27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e0d8ecaac_1_278"/>
          <p:cNvSpPr txBox="1"/>
          <p:nvPr>
            <p:ph type="title"/>
          </p:nvPr>
        </p:nvSpPr>
        <p:spPr>
          <a:xfrm>
            <a:off x="457200" y="1066968"/>
            <a:ext cx="30084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de0d8ecaac_1_278"/>
          <p:cNvSpPr txBox="1"/>
          <p:nvPr>
            <p:ph idx="1" type="body"/>
          </p:nvPr>
        </p:nvSpPr>
        <p:spPr>
          <a:xfrm>
            <a:off x="3575050" y="1073720"/>
            <a:ext cx="5111700" cy="50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8" name="Google Shape;88;g3de0d8ecaac_1_278"/>
          <p:cNvSpPr txBox="1"/>
          <p:nvPr>
            <p:ph idx="2" type="body"/>
          </p:nvPr>
        </p:nvSpPr>
        <p:spPr>
          <a:xfrm>
            <a:off x="457200" y="1803850"/>
            <a:ext cx="3008400" cy="43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9" name="Google Shape;89;g3de0d8ecaac_1_27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g3de0d8ecaac_1_27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g3de0d8ecaac_1_27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e0d8ecaac_1_285"/>
          <p:cNvSpPr txBox="1"/>
          <p:nvPr>
            <p:ph type="title"/>
          </p:nvPr>
        </p:nvSpPr>
        <p:spPr>
          <a:xfrm>
            <a:off x="457200" y="1196430"/>
            <a:ext cx="25737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de0d8ecaac_1_285"/>
          <p:cNvSpPr/>
          <p:nvPr>
            <p:ph idx="2" type="pic"/>
          </p:nvPr>
        </p:nvSpPr>
        <p:spPr>
          <a:xfrm>
            <a:off x="3200400" y="1196430"/>
            <a:ext cx="5486400" cy="48504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g3de0d8ecaac_1_285"/>
          <p:cNvSpPr txBox="1"/>
          <p:nvPr>
            <p:ph idx="1" type="body"/>
          </p:nvPr>
        </p:nvSpPr>
        <p:spPr>
          <a:xfrm>
            <a:off x="457200" y="1768043"/>
            <a:ext cx="2573700" cy="42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6" name="Google Shape;96;g3de0d8ecaac_1_28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g3de0d8ecaac_1_28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de0d8ecaac_1_28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e0d8ecaac_1_35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de0d8ecaac_1_356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g3de0d8ecaac_1_35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g3de0d8ecaac_1_35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de0d8ecaac_1_35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1" name="Google Shape;111;g3de0d8ecaac_1_3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1" y="234146"/>
            <a:ext cx="2443864" cy="41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e0d8ecaac_1_363"/>
          <p:cNvSpPr txBox="1"/>
          <p:nvPr>
            <p:ph type="ctrTitle"/>
          </p:nvPr>
        </p:nvSpPr>
        <p:spPr>
          <a:xfrm>
            <a:off x="3969582" y="2130425"/>
            <a:ext cx="44886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de0d8ecaac_1_363"/>
          <p:cNvSpPr txBox="1"/>
          <p:nvPr>
            <p:ph idx="1" type="subTitle"/>
          </p:nvPr>
        </p:nvSpPr>
        <p:spPr>
          <a:xfrm>
            <a:off x="3124200" y="3886200"/>
            <a:ext cx="5334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5" name="Google Shape;115;g3de0d8ecaac_1_36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g3de0d8ecaac_1_36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3de0d8ecaac_1_36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e0d8ecaac_1_369"/>
          <p:cNvSpPr txBox="1"/>
          <p:nvPr>
            <p:ph idx="1" type="body"/>
          </p:nvPr>
        </p:nvSpPr>
        <p:spPr>
          <a:xfrm>
            <a:off x="457200" y="1975644"/>
            <a:ext cx="4038600" cy="41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0" name="Google Shape;120;g3de0d8ecaac_1_369"/>
          <p:cNvSpPr txBox="1"/>
          <p:nvPr>
            <p:ph idx="2" type="body"/>
          </p:nvPr>
        </p:nvSpPr>
        <p:spPr>
          <a:xfrm>
            <a:off x="4648200" y="1975644"/>
            <a:ext cx="4038600" cy="41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21" name="Google Shape;121;g3de0d8ecaac_1_36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de0d8ecaac_1_36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de0d8ecaac_1_36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g3de0d8ecaac_1_369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1"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e0d8ecaac_1_376"/>
          <p:cNvSpPr txBox="1"/>
          <p:nvPr>
            <p:ph type="title"/>
          </p:nvPr>
        </p:nvSpPr>
        <p:spPr>
          <a:xfrm>
            <a:off x="457200" y="290064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de0d8ecaac_1_37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de0d8ecaac_1_37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g3de0d8ecaac_1_37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e0d8ecaac_1_381"/>
          <p:cNvSpPr txBox="1"/>
          <p:nvPr>
            <p:ph type="title"/>
          </p:nvPr>
        </p:nvSpPr>
        <p:spPr>
          <a:xfrm>
            <a:off x="457200" y="1066968"/>
            <a:ext cx="30084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g3de0d8ecaac_1_381"/>
          <p:cNvSpPr txBox="1"/>
          <p:nvPr>
            <p:ph idx="1" type="body"/>
          </p:nvPr>
        </p:nvSpPr>
        <p:spPr>
          <a:xfrm>
            <a:off x="3575050" y="1073720"/>
            <a:ext cx="5111700" cy="50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1" sz="28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3" name="Google Shape;133;g3de0d8ecaac_1_381"/>
          <p:cNvSpPr txBox="1"/>
          <p:nvPr>
            <p:ph idx="2" type="body"/>
          </p:nvPr>
        </p:nvSpPr>
        <p:spPr>
          <a:xfrm>
            <a:off x="457200" y="1803850"/>
            <a:ext cx="3008400" cy="43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4" name="Google Shape;134;g3de0d8ecaac_1_38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de0d8ecaac_1_38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g3de0d8ecaac_1_38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e0d8ecaac_1_388"/>
          <p:cNvSpPr txBox="1"/>
          <p:nvPr>
            <p:ph type="title"/>
          </p:nvPr>
        </p:nvSpPr>
        <p:spPr>
          <a:xfrm>
            <a:off x="457200" y="1196430"/>
            <a:ext cx="25737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g3de0d8ecaac_1_388"/>
          <p:cNvSpPr/>
          <p:nvPr>
            <p:ph idx="2" type="pic"/>
          </p:nvPr>
        </p:nvSpPr>
        <p:spPr>
          <a:xfrm>
            <a:off x="3200400" y="1196430"/>
            <a:ext cx="5486400" cy="48504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g3de0d8ecaac_1_388"/>
          <p:cNvSpPr txBox="1"/>
          <p:nvPr>
            <p:ph idx="1" type="body"/>
          </p:nvPr>
        </p:nvSpPr>
        <p:spPr>
          <a:xfrm>
            <a:off x="457200" y="1768043"/>
            <a:ext cx="2573700" cy="42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1" name="Google Shape;141;g3de0d8ecaac_1_38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de0d8ecaac_1_38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g3de0d8ecaac_1_38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de0d8ecaac_1_2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6" name="Google Shape;56;g3de0d8ecaac_1_24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g3de0d8ecaac_1_24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g3de0d8ecaac_1_24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g3de0d8ecaac_1_24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e0d8ecaac_1_3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1" name="Google Shape;101;g3de0d8ecaac_1_35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g3de0d8ecaac_1_35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g3de0d8ecaac_1_35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g3de0d8ecaac_1_35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5" Type="http://schemas.openxmlformats.org/officeDocument/2006/relationships/image" Target="../media/image3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Relationship Id="rId5" Type="http://schemas.openxmlformats.org/officeDocument/2006/relationships/image" Target="../media/image26.png"/><Relationship Id="rId6" Type="http://schemas.openxmlformats.org/officeDocument/2006/relationships/image" Target="../media/image13.png"/><Relationship Id="rId7" Type="http://schemas.openxmlformats.org/officeDocument/2006/relationships/image" Target="../media/image23.png"/><Relationship Id="rId8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gif"/><Relationship Id="rId4" Type="http://schemas.openxmlformats.org/officeDocument/2006/relationships/image" Target="../media/image33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gif"/><Relationship Id="rId4" Type="http://schemas.openxmlformats.org/officeDocument/2006/relationships/image" Target="../media/image32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drive.google.com/file/d/1b_TkMzuX35gEoawwVMiDU9ZFzipbXtng/view" TargetMode="External"/><Relationship Id="rId4" Type="http://schemas.openxmlformats.org/officeDocument/2006/relationships/image" Target="../media/image29.jpg"/><Relationship Id="rId5" Type="http://schemas.openxmlformats.org/officeDocument/2006/relationships/hyperlink" Target="http://drive.google.com/file/d/11WL9IxcG7u4gyOz1lAFYlkW-2gu3-yn6/view" TargetMode="External"/><Relationship Id="rId6" Type="http://schemas.openxmlformats.org/officeDocument/2006/relationships/image" Target="../media/image3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/>
          <p:nvPr>
            <p:ph type="ctrTitle"/>
          </p:nvPr>
        </p:nvSpPr>
        <p:spPr>
          <a:xfrm>
            <a:off x="1680400" y="4116200"/>
            <a:ext cx="7302600" cy="16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11111"/>
              <a:buFont typeface="Arial"/>
              <a:buNone/>
            </a:pPr>
            <a:r>
              <a:rPr lang="en-US"/>
              <a:t>Team 50: Remote </a:t>
            </a:r>
            <a:br>
              <a:rPr lang="en-US"/>
            </a:br>
            <a:r>
              <a:rPr lang="en-US"/>
              <a:t>Biometric System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42857"/>
              <a:buFont typeface="Arial"/>
              <a:buNone/>
            </a:pPr>
            <a:r>
              <a:rPr lang="en-US"/>
              <a:t>Final Presentation</a:t>
            </a:r>
            <a:br>
              <a:rPr lang="en-US"/>
            </a:br>
            <a:r>
              <a:rPr lang="en-US" sz="2800"/>
              <a:t>Simon Becker</a:t>
            </a:r>
            <a:endParaRPr sz="28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 sz="2800"/>
              <a:t>Andrew-Joseph Nicolas</a:t>
            </a:r>
            <a:endParaRPr sz="28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 sz="2800"/>
              <a:t>Lance Pagaduan</a:t>
            </a:r>
            <a:endParaRPr sz="2800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42857"/>
              <a:buFont typeface="Arial"/>
              <a:buNone/>
            </a:pPr>
            <a:r>
              <a:rPr lang="en-US" sz="2800"/>
              <a:t>Harin Sankar</a:t>
            </a:r>
            <a:br>
              <a:rPr lang="en-US" sz="2455"/>
            </a:br>
            <a:r>
              <a:rPr lang="en-US" sz="2455"/>
              <a:t>Sponsor: Dr. Steven Wright</a:t>
            </a:r>
            <a:br>
              <a:rPr lang="en-US" sz="2455"/>
            </a:br>
            <a:r>
              <a:rPr lang="en-US" sz="2455"/>
              <a:t>TA: Hailey Ward</a:t>
            </a:r>
            <a:endParaRPr/>
          </a:p>
        </p:txBody>
      </p:sp>
      <p:sp>
        <p:nvSpPr>
          <p:cNvPr id="149" name="Google Shape;149;p2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fmla="val 28990" name="adj"/>
            </a:avLst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193675" rotWithShape="0" dir="5400000" dist="230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44000" y="1105318"/>
            <a:ext cx="3114199" cy="52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e0d8ecaac_1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Contactless Cardiac Gating</a:t>
            </a:r>
            <a:endParaRPr/>
          </a:p>
        </p:txBody>
      </p:sp>
      <p:sp>
        <p:nvSpPr>
          <p:cNvPr id="156" name="Google Shape;156;g3de0d8ecaac_1_0"/>
          <p:cNvSpPr txBox="1"/>
          <p:nvPr>
            <p:ph idx="1" type="body"/>
          </p:nvPr>
        </p:nvSpPr>
        <p:spPr>
          <a:xfrm>
            <a:off x="0" y="2097450"/>
            <a:ext cx="45321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37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Extensive and uncomfortable prep can be necessary</a:t>
            </a:r>
            <a:endParaRPr baseline="30000" sz="2600"/>
          </a:p>
          <a:p>
            <a:pPr indent="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-3937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MRI Patient throughput can be improved</a:t>
            </a:r>
            <a:endParaRPr sz="2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-3937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32% of patients think they wait too long for MRIs</a:t>
            </a:r>
            <a:r>
              <a:rPr baseline="30000" lang="en-US" sz="2600"/>
              <a:t>1</a:t>
            </a:r>
            <a:endParaRPr sz="2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2600"/>
          </a:p>
        </p:txBody>
      </p:sp>
      <p:sp>
        <p:nvSpPr>
          <p:cNvPr id="157" name="Google Shape;157;g3de0d8ecaac_1_0"/>
          <p:cNvSpPr txBox="1"/>
          <p:nvPr/>
        </p:nvSpPr>
        <p:spPr>
          <a:xfrm>
            <a:off x="96600" y="6303900"/>
            <a:ext cx="895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Dostál, M., Jurasová, K., Keřkovský, M. </a:t>
            </a:r>
            <a:r>
              <a:rPr i="1" lang="en-US" sz="1200">
                <a:solidFill>
                  <a:schemeClr val="dk1"/>
                </a:solidFill>
              </a:rPr>
              <a:t>et al.</a:t>
            </a:r>
            <a:r>
              <a:rPr lang="en-US" sz="1200">
                <a:solidFill>
                  <a:schemeClr val="dk1"/>
                </a:solidFill>
              </a:rPr>
              <a:t> What factors affect a patient’s subjective perception of MRI examination. </a:t>
            </a:r>
            <a:r>
              <a:rPr i="1" lang="en-US" sz="1200">
                <a:solidFill>
                  <a:schemeClr val="dk1"/>
                </a:solidFill>
              </a:rPr>
              <a:t>Sci Rep</a:t>
            </a:r>
            <a:r>
              <a:rPr lang="en-US" sz="1200">
                <a:solidFill>
                  <a:schemeClr val="dk1"/>
                </a:solidFill>
              </a:rPr>
              <a:t> </a:t>
            </a:r>
            <a:r>
              <a:rPr b="1" lang="en-US" sz="1200">
                <a:solidFill>
                  <a:schemeClr val="dk1"/>
                </a:solidFill>
              </a:rPr>
              <a:t>14</a:t>
            </a:r>
            <a:r>
              <a:rPr lang="en-US" sz="1200">
                <a:solidFill>
                  <a:schemeClr val="dk1"/>
                </a:solidFill>
              </a:rPr>
              <a:t>, 22731 (2024). https://doi.org/10.1038/s41598-024-74231-9</a:t>
            </a:r>
            <a:endParaRPr sz="1200"/>
          </a:p>
        </p:txBody>
      </p:sp>
      <p:pic>
        <p:nvPicPr>
          <p:cNvPr id="158" name="Google Shape;158;g3de0d8ecaac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7650" y="2161887"/>
            <a:ext cx="4699750" cy="281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g3de0d8ecaac_1_0"/>
          <p:cNvSpPr txBox="1"/>
          <p:nvPr/>
        </p:nvSpPr>
        <p:spPr>
          <a:xfrm>
            <a:off x="4347625" y="4904075"/>
            <a:ext cx="4699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6666"/>
                </a:solidFill>
              </a:rPr>
              <a:t>Vasireddy, Rakesh &amp; Roth, Corinne &amp; Mathis, Johannes &amp; Goette, Josef &amp; Jacomet, Marcel &amp; Vogt, Andreas. (2018). K-band Doppler radar for contact-less overnight sleep marker assessment: a pilot validation study. Journal of Clinical Monitoring and Computing. 32. 10.1007/s10877-017-0060-9. </a:t>
            </a:r>
            <a:endParaRPr sz="800">
              <a:solidFill>
                <a:srgbClr val="6666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e0d8ecaac_1_345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Contactless Cardiac Gating</a:t>
            </a:r>
            <a:endParaRPr/>
          </a:p>
        </p:txBody>
      </p:sp>
      <p:pic>
        <p:nvPicPr>
          <p:cNvPr id="165" name="Google Shape;165;g3de0d8ecaac_1_345" title="Block Diagram Presenta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700" y="1673300"/>
            <a:ext cx="8316600" cy="4804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e06b5e29e_0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Radar &amp; MCU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/>
              <a:t>Lance Pagaduan</a:t>
            </a:r>
            <a:endParaRPr sz="1550"/>
          </a:p>
        </p:txBody>
      </p:sp>
      <p:sp>
        <p:nvSpPr>
          <p:cNvPr id="172" name="Google Shape;172;g3de06b5e29e_0_0"/>
          <p:cNvSpPr txBox="1"/>
          <p:nvPr>
            <p:ph idx="1" type="body"/>
          </p:nvPr>
        </p:nvSpPr>
        <p:spPr>
          <a:xfrm>
            <a:off x="457200" y="2049275"/>
            <a:ext cx="8462700" cy="4669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6100"/>
              <a:t>Design Function</a:t>
            </a:r>
            <a:endParaRPr sz="6100"/>
          </a:p>
          <a:p>
            <a:pPr indent="-34290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100000"/>
              <a:buChar char="●"/>
            </a:pPr>
            <a:r>
              <a:rPr lang="en-US" sz="4500"/>
              <a:t>IWR6843AOP (radar) </a:t>
            </a:r>
            <a:r>
              <a:rPr b="1" lang="en-US" sz="4500"/>
              <a:t>extracts</a:t>
            </a:r>
            <a:r>
              <a:rPr lang="en-US" sz="4500"/>
              <a:t> chest movements from the patient in the form of </a:t>
            </a:r>
            <a:r>
              <a:rPr b="1" lang="en-US" sz="4500"/>
              <a:t>I/Q data.</a:t>
            </a:r>
            <a:r>
              <a:rPr lang="en-US" sz="4500"/>
              <a:t> The I/Q values go to the STM32F407 (MCU) housed on the PCB which will </a:t>
            </a:r>
            <a:r>
              <a:rPr b="1" lang="en-US" sz="4500"/>
              <a:t>calculate heart &amp; respiration rate</a:t>
            </a:r>
            <a:r>
              <a:rPr lang="en-US" sz="4500"/>
              <a:t> as well as </a:t>
            </a:r>
            <a:r>
              <a:rPr b="1" lang="en-US" sz="4500"/>
              <a:t>heart beat trigger signals</a:t>
            </a:r>
            <a:r>
              <a:rPr lang="en-US" sz="4500"/>
              <a:t>. </a:t>
            </a:r>
            <a:endParaRPr sz="4500"/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6100"/>
              <a:t>Challenges</a:t>
            </a:r>
            <a:endParaRPr sz="6100"/>
          </a:p>
          <a:p>
            <a:pPr indent="-34290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100000"/>
              <a:buChar char="●"/>
            </a:pPr>
            <a:r>
              <a:rPr lang="en-US" sz="4500"/>
              <a:t>Radar connection issues to PC</a:t>
            </a:r>
            <a:endParaRPr sz="45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4500"/>
              <a:t>STM32CubeIDE library &amp; functions configuration issues </a:t>
            </a:r>
            <a:endParaRPr sz="4500"/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6000"/>
              <a:t>Accomplishments</a:t>
            </a:r>
            <a:r>
              <a:rPr lang="en-US" sz="5600"/>
              <a:t> </a:t>
            </a:r>
            <a:endParaRPr sz="5600"/>
          </a:p>
          <a:p>
            <a:pPr indent="-34290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100000"/>
              <a:buChar char="●"/>
            </a:pPr>
            <a:r>
              <a:rPr lang="en-US" sz="4500"/>
              <a:t>Configured radar to extract chest movements from within a 0.5m range </a:t>
            </a:r>
            <a:endParaRPr sz="45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4500"/>
              <a:t>Coded MCU dev board with sample I/Q data to calculate biometric data and trigger signals</a:t>
            </a:r>
            <a:endParaRPr sz="45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4500"/>
              <a:t>Flashed MCU on PCB with code to output same results as sample data</a:t>
            </a:r>
            <a:endParaRPr sz="4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 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 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e06b5e29e_0_18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Radar &amp; MCU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/>
              <a:t>Lance Pagaduan</a:t>
            </a:r>
            <a:endParaRPr sz="15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/>
          </a:p>
        </p:txBody>
      </p:sp>
      <p:sp>
        <p:nvSpPr>
          <p:cNvPr id="179" name="Google Shape;179;g3de06b5e29e_0_18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/>
              <a:t>Radar Validation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/>
              <a:t> </a:t>
            </a:r>
            <a:endParaRPr sz="24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180" name="Google Shape;180;g3de06b5e29e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569675"/>
            <a:ext cx="3714849" cy="2858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3de06b5e29e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8463" y="1852875"/>
            <a:ext cx="3206176" cy="2328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3de06b5e29e_0_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2601" y="4513250"/>
            <a:ext cx="3957901" cy="1987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e06b5e29e_0_3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Radar &amp; MCU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/>
              <a:t>Lance Pagaduan</a:t>
            </a:r>
            <a:endParaRPr sz="1550"/>
          </a:p>
        </p:txBody>
      </p:sp>
      <p:sp>
        <p:nvSpPr>
          <p:cNvPr id="189" name="Google Shape;189;g3de06b5e29e_0_30"/>
          <p:cNvSpPr txBox="1"/>
          <p:nvPr>
            <p:ph idx="1" type="body"/>
          </p:nvPr>
        </p:nvSpPr>
        <p:spPr>
          <a:xfrm>
            <a:off x="457200" y="2049270"/>
            <a:ext cx="8229600" cy="4077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/>
              <a:t>MCU Validation</a:t>
            </a:r>
            <a:endParaRPr sz="2400"/>
          </a:p>
        </p:txBody>
      </p:sp>
      <p:pic>
        <p:nvPicPr>
          <p:cNvPr id="190" name="Google Shape;190;g3de06b5e29e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465275"/>
            <a:ext cx="5129099" cy="194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de06b5e29e_0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76474" y="1916275"/>
            <a:ext cx="2974500" cy="4753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3de06b5e29e_0_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1" y="4576925"/>
            <a:ext cx="5865574" cy="20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e06b5e29e_1_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PCB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/>
              <a:t>Andrew-Joseph Nicolas</a:t>
            </a:r>
            <a:endParaRPr sz="15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/>
          </a:p>
        </p:txBody>
      </p:sp>
      <p:sp>
        <p:nvSpPr>
          <p:cNvPr id="199" name="Google Shape;199;g3de06b5e29e_1_6"/>
          <p:cNvSpPr txBox="1"/>
          <p:nvPr>
            <p:ph idx="1" type="body"/>
          </p:nvPr>
        </p:nvSpPr>
        <p:spPr>
          <a:xfrm>
            <a:off x="457200" y="1918975"/>
            <a:ext cx="8229600" cy="4708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/>
              <a:t>Design Function</a:t>
            </a:r>
            <a:endParaRPr sz="2400"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Three separate DC power rails are </a:t>
            </a:r>
            <a:r>
              <a:rPr lang="en-US" sz="1800"/>
              <a:t>maintained on the PCB to deliver power simultaneously during normal operation.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DC Rails: 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/>
              <a:t>5V, 3A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/>
              <a:t>5V, 2A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/>
              <a:t>3.3V, 0.5A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The PCB hosts an STM32 microcontroller and provides the ability to communicate data between the board and PC.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/>
              <a:t>Accomplishments</a:t>
            </a:r>
            <a:endParaRPr sz="2400"/>
          </a:p>
          <a:p>
            <a:pPr indent="-342900" lvl="0" marL="457200" rtl="0" algn="l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All hardware was powered properly and functional while connected to the PCB.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STM32 was able to communicate effectively over UART.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No power stability or data integrity issues were observed during validation and deployment testing</a:t>
            </a:r>
            <a:br>
              <a:rPr lang="en-US" sz="1800"/>
            </a:br>
            <a:r>
              <a:rPr lang="en-US" sz="1800"/>
              <a:t> </a:t>
            </a:r>
            <a:br>
              <a:rPr lang="en-US" sz="1800"/>
            </a:b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e06b5e29e_1_12"/>
          <p:cNvSpPr txBox="1"/>
          <p:nvPr>
            <p:ph type="title"/>
          </p:nvPr>
        </p:nvSpPr>
        <p:spPr>
          <a:xfrm>
            <a:off x="3900307" y="305150"/>
            <a:ext cx="49389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PCB Validation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/>
              <a:t>Andrew-Joseph Nicolas</a:t>
            </a:r>
            <a:endParaRPr sz="155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/>
          </a:p>
        </p:txBody>
      </p:sp>
      <p:sp>
        <p:nvSpPr>
          <p:cNvPr id="206" name="Google Shape;206;g3de06b5e29e_1_12"/>
          <p:cNvSpPr txBox="1"/>
          <p:nvPr>
            <p:ph idx="1" type="body"/>
          </p:nvPr>
        </p:nvSpPr>
        <p:spPr>
          <a:xfrm>
            <a:off x="146775" y="1108850"/>
            <a:ext cx="3041100" cy="3106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00"/>
              <a:t>Cases:</a:t>
            </a:r>
            <a:endParaRPr sz="1800"/>
          </a:p>
          <a:p>
            <a:pPr indent="-317183" lvl="0" marL="457200" rtl="0" algn="l">
              <a:spcBef>
                <a:spcPts val="360"/>
              </a:spcBef>
              <a:spcAft>
                <a:spcPts val="0"/>
              </a:spcAft>
              <a:buSzPct val="100000"/>
              <a:buChar char="●"/>
            </a:pPr>
            <a:r>
              <a:rPr lang="en-US" sz="1800"/>
              <a:t>Case a: 0.5A load step</a:t>
            </a:r>
            <a:endParaRPr sz="1800"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1800"/>
              <a:t>Case b: 0.75A load step</a:t>
            </a:r>
            <a:endParaRPr sz="1800"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1800"/>
              <a:t>Case c: 1A load step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07" name="Google Shape;207;g3de06b5e29e_1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775" y="1946838"/>
            <a:ext cx="6345850" cy="296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de06b5e29e_1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775" y="4969150"/>
            <a:ext cx="5544950" cy="156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3de06b5e29e_1_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98123" y="4328075"/>
            <a:ext cx="2941080" cy="2205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e06b5e29e_2_0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Scan Filter</a:t>
            </a:r>
            <a:endParaRPr/>
          </a:p>
        </p:txBody>
      </p:sp>
      <p:sp>
        <p:nvSpPr>
          <p:cNvPr id="216" name="Google Shape;216;g3de06b5e29e_2_0"/>
          <p:cNvSpPr txBox="1"/>
          <p:nvPr>
            <p:ph idx="1" type="body"/>
          </p:nvPr>
        </p:nvSpPr>
        <p:spPr>
          <a:xfrm>
            <a:off x="343200" y="1852875"/>
            <a:ext cx="8229600" cy="440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7463"/>
              <a:t>Design Function</a:t>
            </a:r>
            <a:endParaRPr sz="7463"/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6863"/>
              <a:t>Python software reads raw MRI acquisition data and a radar-derived cardiac waveform, reconstructs acquisition timing, maps k-space lines to cardiac phase, and removes motion-corrupted data before generating readable output images.</a:t>
            </a:r>
            <a:endParaRPr sz="6863"/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6863"/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7463"/>
              <a:t>Challenges</a:t>
            </a:r>
            <a:endParaRPr sz="7463"/>
          </a:p>
          <a:p>
            <a:pPr indent="-337558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100000"/>
              <a:buChar char="•"/>
            </a:pPr>
            <a:r>
              <a:rPr lang="en-US" sz="6863"/>
              <a:t>Raw MRI data required custom vendor-specific parsing at the acquisition level.</a:t>
            </a:r>
            <a:endParaRPr sz="6863"/>
          </a:p>
          <a:p>
            <a:pPr indent="-33755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6863"/>
              <a:t>Motion screening had to reject corrupted data while preserving enough k-space coverage for usable reconstruction.</a:t>
            </a:r>
            <a:endParaRPr sz="7463"/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6863"/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7463"/>
              <a:t>Accomplishments </a:t>
            </a:r>
            <a:endParaRPr sz="7463"/>
          </a:p>
          <a:p>
            <a:pPr indent="-336764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100000"/>
              <a:buChar char="•"/>
            </a:pPr>
            <a:r>
              <a:rPr lang="en-US" sz="6813"/>
              <a:t>Synchronized .mrd raw scans and cardiogram data for joint timing-based analysis.</a:t>
            </a:r>
            <a:endParaRPr sz="6813"/>
          </a:p>
          <a:p>
            <a:pPr indent="-33676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6813"/>
              <a:t>Reconstructed artifact-reduced DICOM images by identifying and replacing motion-corrupted data.</a:t>
            </a:r>
            <a:endParaRPr sz="6813"/>
          </a:p>
          <a:p>
            <a:pPr indent="-336764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6813"/>
              <a:t>Maintained gating robustness under outlier cardiac waveforms</a:t>
            </a:r>
            <a:endParaRPr sz="6813"/>
          </a:p>
          <a:p>
            <a:pPr indent="0" lvl="0" marL="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e06b5e29e_4_0"/>
          <p:cNvSpPr txBox="1"/>
          <p:nvPr>
            <p:ph type="title"/>
          </p:nvPr>
        </p:nvSpPr>
        <p:spPr>
          <a:xfrm>
            <a:off x="457200" y="990551"/>
            <a:ext cx="8229600" cy="468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Scan Reconstruction Validation</a:t>
            </a:r>
            <a:endParaRPr/>
          </a:p>
        </p:txBody>
      </p:sp>
      <p:pic>
        <p:nvPicPr>
          <p:cNvPr id="223" name="Google Shape;223;g3de06b5e29e_4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00" y="1901425"/>
            <a:ext cx="1092425" cy="109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g3de06b5e29e_4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4774" y="1901425"/>
            <a:ext cx="1092425" cy="109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g3de06b5e29e_4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3425" y="1901425"/>
            <a:ext cx="1092425" cy="109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g3de06b5e29e_4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6124" y="1901425"/>
            <a:ext cx="1092425" cy="109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g3de06b5e29e_4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7474" y="1901425"/>
            <a:ext cx="1092425" cy="109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g3de06b5e29e_4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48825" y="1898738"/>
            <a:ext cx="1097800" cy="109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3de06b5e29e_4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75550" y="1738900"/>
            <a:ext cx="1634625" cy="16346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0" name="Google Shape;230;g3de06b5e29e_4_0"/>
          <p:cNvGraphicFramePr/>
          <p:nvPr/>
        </p:nvGraphicFramePr>
        <p:xfrm>
          <a:off x="966500" y="398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{B9A211C6-7FC9-4F9E-8391-DF505E18A63F}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44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Validation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Requirement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Spec / Metric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Result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108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Image </a:t>
                      </a:r>
                      <a:r>
                        <a:rPr lang="en-US" sz="1200"/>
                        <a:t>Reconstruction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Reconstruct readable, artifact-reduced images from corrupted scans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SSIM &gt;= 0.90; readable output rate &gt;= 90%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/>
                        <a:t>SSIM mean 0.93, 10/10 readable outputs</a:t>
                      </a:r>
                      <a:endParaRPr sz="1200"/>
                    </a:p>
                  </a:txBody>
                  <a:tcPr marT="91425" marB="91425" marR="91425" marL="91425"/>
                </a:tc>
              </a:tr>
              <a:tr h="108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K-Space Line Usage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Use phase-consistent k-space lines and reject corrupted lines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</a:rPr>
                        <a:t>Line-selection accuracy &gt;= 95%; corrupted-line rejection &gt;= 90%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200"/>
                        <a:t>accuracy mean 98%, rejection mean 91%</a:t>
                      </a:r>
                      <a:endParaRPr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1" name="Google Shape;231;g3de06b5e29e_4_0"/>
          <p:cNvSpPr txBox="1"/>
          <p:nvPr/>
        </p:nvSpPr>
        <p:spPr>
          <a:xfrm>
            <a:off x="442675" y="1586075"/>
            <a:ext cx="6087300" cy="1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128 by 128 line k space scan of an orange under motion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32" name="Google Shape;232;g3de06b5e29e_4_0"/>
          <p:cNvSpPr txBox="1"/>
          <p:nvPr/>
        </p:nvSpPr>
        <p:spPr>
          <a:xfrm>
            <a:off x="2607225" y="3072950"/>
            <a:ext cx="843600" cy="2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</a:rPr>
              <a:t> 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33" name="Google Shape;233;g3de06b5e29e_4_0"/>
          <p:cNvSpPr txBox="1"/>
          <p:nvPr/>
        </p:nvSpPr>
        <p:spPr>
          <a:xfrm>
            <a:off x="216050" y="3072525"/>
            <a:ext cx="720000" cy="2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</a:endParaRPr>
          </a:p>
        </p:txBody>
      </p:sp>
      <p:sp>
        <p:nvSpPr>
          <p:cNvPr id="234" name="Google Shape;234;g3de06b5e29e_4_0"/>
          <p:cNvSpPr txBox="1"/>
          <p:nvPr/>
        </p:nvSpPr>
        <p:spPr>
          <a:xfrm>
            <a:off x="154250" y="3095125"/>
            <a:ext cx="8436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Lines 1-23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35" name="Google Shape;235;g3de06b5e29e_4_0"/>
          <p:cNvSpPr txBox="1"/>
          <p:nvPr/>
        </p:nvSpPr>
        <p:spPr>
          <a:xfrm>
            <a:off x="1321775" y="3095125"/>
            <a:ext cx="9615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Lines 24-41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36" name="Google Shape;236;g3de06b5e29e_4_0"/>
          <p:cNvSpPr txBox="1"/>
          <p:nvPr/>
        </p:nvSpPr>
        <p:spPr>
          <a:xfrm>
            <a:off x="2513825" y="3095125"/>
            <a:ext cx="9615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Lines 42-49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37" name="Google Shape;237;g3de06b5e29e_4_0"/>
          <p:cNvSpPr txBox="1"/>
          <p:nvPr/>
        </p:nvSpPr>
        <p:spPr>
          <a:xfrm>
            <a:off x="3752550" y="3095125"/>
            <a:ext cx="9615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Lines 50-78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38" name="Google Shape;238;g3de06b5e29e_4_0"/>
          <p:cNvSpPr txBox="1"/>
          <p:nvPr/>
        </p:nvSpPr>
        <p:spPr>
          <a:xfrm>
            <a:off x="4967988" y="3095125"/>
            <a:ext cx="9615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Lines 79-91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39" name="Google Shape;239;g3de06b5e29e_4_0"/>
          <p:cNvSpPr txBox="1"/>
          <p:nvPr/>
        </p:nvSpPr>
        <p:spPr>
          <a:xfrm>
            <a:off x="6171775" y="3095125"/>
            <a:ext cx="9615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Lines 92-128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40" name="Google Shape;240;g3de06b5e29e_4_0"/>
          <p:cNvSpPr txBox="1"/>
          <p:nvPr/>
        </p:nvSpPr>
        <p:spPr>
          <a:xfrm>
            <a:off x="7432063" y="3429000"/>
            <a:ext cx="15216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</a:rPr>
              <a:t>Final image with all lines concatenated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e06b5e29e_4_6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Gating Validation</a:t>
            </a:r>
            <a:endParaRPr/>
          </a:p>
        </p:txBody>
      </p:sp>
      <p:graphicFrame>
        <p:nvGraphicFramePr>
          <p:cNvPr id="247" name="Google Shape;247;g3de06b5e29e_4_6"/>
          <p:cNvGraphicFramePr/>
          <p:nvPr/>
        </p:nvGraphicFramePr>
        <p:xfrm>
          <a:off x="766225" y="430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{B9A211C6-7FC9-4F9E-8391-DF505E18A63F}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5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Validation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Requirement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Spec / Metric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Result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7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K-Space / Cardiogram Synchronization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Correctly align each k-space line with the cardiogram timing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Synchronization </a:t>
                      </a:r>
                      <a:r>
                        <a:rPr lang="en-US"/>
                        <a:t>Error &lt;= 10 ms; Accuracy &gt;= 95%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Max </a:t>
                      </a:r>
                      <a:r>
                        <a:rPr lang="en-US"/>
                        <a:t>Error: 5 ms; Accuracy: 97 %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119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Outlier Cardiogram Handling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Maintain correct gating under irregular cardiogram cases such as arrhythmia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Outlier phase-bin accuracy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5/5 outlying cardiograms were binned properly with scan data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48" name="Google Shape;248;g3de06b5e29e_4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586" y="1930887"/>
            <a:ext cx="6752289" cy="22951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3de06b5e29e_4_6"/>
          <p:cNvSpPr txBox="1"/>
          <p:nvPr/>
        </p:nvSpPr>
        <p:spPr>
          <a:xfrm>
            <a:off x="1169125" y="1476575"/>
            <a:ext cx="6433200" cy="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Synchronization of mri scan readout lines with a 117.6 beats per minute cardiogram   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e0d8ecaac_1_242"/>
          <p:cNvSpPr txBox="1"/>
          <p:nvPr>
            <p:ph type="title"/>
          </p:nvPr>
        </p:nvSpPr>
        <p:spPr>
          <a:xfrm>
            <a:off x="457200" y="1049338"/>
            <a:ext cx="822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User Interface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Simon Becker</a:t>
            </a:r>
            <a:endParaRPr/>
          </a:p>
        </p:txBody>
      </p:sp>
      <p:sp>
        <p:nvSpPr>
          <p:cNvPr id="255" name="Google Shape;255;g3de0d8ecaac_1_242"/>
          <p:cNvSpPr txBox="1"/>
          <p:nvPr>
            <p:ph idx="1" type="body"/>
          </p:nvPr>
        </p:nvSpPr>
        <p:spPr>
          <a:xfrm>
            <a:off x="381000" y="1899897"/>
            <a:ext cx="8229600" cy="46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/>
              <a:t>Engineering Challenges:</a:t>
            </a:r>
            <a:endParaRPr u="sng"/>
          </a:p>
          <a:p>
            <a:pPr indent="-431800" lvl="0" marL="342900" rtl="0" algn="l">
              <a:spcBef>
                <a:spcPts val="544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Integrating Harin’s Scan Filter with the existing Desktop Application</a:t>
            </a:r>
            <a:endParaRPr/>
          </a:p>
          <a:p>
            <a:pPr indent="-374650" lvl="1" marL="742950" rtl="0" algn="l">
              <a:spcBef>
                <a:spcPts val="544"/>
              </a:spcBef>
              <a:spcAft>
                <a:spcPts val="0"/>
              </a:spcAft>
              <a:buSzPts val="3200"/>
              <a:buChar char="–"/>
            </a:pPr>
            <a:r>
              <a:rPr lang="en-US"/>
              <a:t>Using Python.NET framework</a:t>
            </a:r>
            <a:endParaRPr/>
          </a:p>
          <a:p>
            <a:pPr indent="-431800" lvl="0" marL="342900" rtl="0" algn="l">
              <a:spcBef>
                <a:spcPts val="544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Maintaining file security with data transfer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g3de0d8ecaac_1_132" title="ezgif-ScanFilter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78466"/>
            <a:ext cx="5063400" cy="2962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g3de0d8ecaac_1_132" title="ezgif-Scan image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8025" y="3740549"/>
            <a:ext cx="4928770" cy="311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g3de0d8ecaac_1_182" title="ezgif-7984a09bdd3fca92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6100" y="1378840"/>
            <a:ext cx="4713050" cy="4100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g3de0d8ecaac_1_182" title="ezgif-ForgotPassword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78840"/>
            <a:ext cx="3864604" cy="470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Integrated System Results</a:t>
            </a:r>
            <a:endParaRPr/>
          </a:p>
        </p:txBody>
      </p:sp>
      <p:sp>
        <p:nvSpPr>
          <p:cNvPr id="273" name="Google Shape;273;p6"/>
          <p:cNvSpPr txBox="1"/>
          <p:nvPr>
            <p:ph idx="1" type="body"/>
          </p:nvPr>
        </p:nvSpPr>
        <p:spPr>
          <a:xfrm>
            <a:off x="127950" y="1650800"/>
            <a:ext cx="42795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3429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400"/>
              <a:t>Hardware Radar Integration</a:t>
            </a:r>
            <a:endParaRPr sz="2400"/>
          </a:p>
        </p:txBody>
      </p:sp>
      <p:sp>
        <p:nvSpPr>
          <p:cNvPr id="274" name="Google Shape;274;p6"/>
          <p:cNvSpPr txBox="1"/>
          <p:nvPr/>
        </p:nvSpPr>
        <p:spPr>
          <a:xfrm>
            <a:off x="855135" y="6352511"/>
            <a:ext cx="4106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6" title="IMG_8221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9287" y="2165925"/>
            <a:ext cx="2476826" cy="440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6" title="IMG_8202.MOV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04263" y="2165925"/>
            <a:ext cx="2553563" cy="4539677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6"/>
          <p:cNvSpPr txBox="1"/>
          <p:nvPr>
            <p:ph idx="1" type="body"/>
          </p:nvPr>
        </p:nvSpPr>
        <p:spPr>
          <a:xfrm>
            <a:off x="4572000" y="1650800"/>
            <a:ext cx="42795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34290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400"/>
              <a:t>Hardware MCU Integration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3de06b5e29e_4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025" y="2254175"/>
            <a:ext cx="4000152" cy="343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g3de06b5e29e_4_61"/>
          <p:cNvPicPr preferRelativeResize="0"/>
          <p:nvPr/>
        </p:nvPicPr>
        <p:blipFill rotWithShape="1">
          <a:blip r:embed="rId4">
            <a:alphaModFix/>
          </a:blip>
          <a:srcRect b="0" l="0" r="1507" t="0"/>
          <a:stretch/>
        </p:blipFill>
        <p:spPr>
          <a:xfrm>
            <a:off x="4496575" y="2029250"/>
            <a:ext cx="4240552" cy="180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g3de06b5e29e_4_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37675" y="4063975"/>
            <a:ext cx="3140775" cy="162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3de06b5e29e_4_61"/>
          <p:cNvSpPr txBox="1"/>
          <p:nvPr>
            <p:ph type="title"/>
          </p:nvPr>
        </p:nvSpPr>
        <p:spPr>
          <a:xfrm>
            <a:off x="457200" y="1049177"/>
            <a:ext cx="8229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Plans and Challenges for Live Testing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7"/>
          <p:cNvSpPr txBox="1"/>
          <p:nvPr>
            <p:ph type="title"/>
          </p:nvPr>
        </p:nvSpPr>
        <p:spPr>
          <a:xfrm>
            <a:off x="457200" y="1049177"/>
            <a:ext cx="8229600" cy="8037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Conclusions</a:t>
            </a:r>
            <a:endParaRPr/>
          </a:p>
        </p:txBody>
      </p:sp>
      <p:sp>
        <p:nvSpPr>
          <p:cNvPr id="292" name="Google Shape;292;p7"/>
          <p:cNvSpPr txBox="1"/>
          <p:nvPr>
            <p:ph idx="1" type="body"/>
          </p:nvPr>
        </p:nvSpPr>
        <p:spPr>
          <a:xfrm>
            <a:off x="457200" y="2049270"/>
            <a:ext cx="8229600" cy="463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Project Design Changes</a:t>
            </a:r>
            <a:endParaRPr sz="2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Radar AWR2944EVM changed to IWR6843AOP to capture full IQ values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Addition of Data Capture Board to hold more data for longer streaming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400"/>
              <a:t>Current Status</a:t>
            </a:r>
            <a:endParaRPr sz="2400"/>
          </a:p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Need to reconfigure radar to handle 5m due to sponsor request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MCU awaiting to be tested with live IQ data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Testing with live MRI data</a:t>
            </a:r>
            <a:endParaRPr sz="18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2013-06-18T16:37:55Z</dcterms:created>
  <dc:creator>Brian Gardner</dc:creator>
</cp:coreProperties>
</file>