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3OruysOlEFiJApXqLQzdfXGHH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59C1EC-5B55-4153-972D-5134AD914BC0}">
  <a:tblStyle styleId="{EF59C1EC-5B55-4153-972D-5134AD914B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B0CD054-44EA-4892-AE4B-171841F0ED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507cd614e_0_1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507cd614e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507cd614e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507cd614e_0_2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507cd614e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507cd614e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507cd614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93" name="Google Shape;93;g3c507cd614e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507cd614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g3c507cd614e_0_1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07cd614e_3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c507cd614e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507cd614e_0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c507cd614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507cd614e_3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507cd614e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507cd614e_3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c507cd614e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507cd614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g3c507cd614e_0_1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507cd614e_1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c507cd614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507cd614e_1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c507cd614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507cd614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0" name="Google Shape;180;g3c507cd614e_0_1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07cd614e_0_2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c507cd614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507cd614e_1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c507cd614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08525" y="36858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/>
              <a:t>Bi-Weekly Update 4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07cd614e_0_156"/>
          <p:cNvSpPr/>
          <p:nvPr/>
        </p:nvSpPr>
        <p:spPr>
          <a:xfrm>
            <a:off x="1698975" y="3868200"/>
            <a:ext cx="3008400" cy="298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507cd614e_0_15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Integrated System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en-US" sz="1750"/>
              <a:t>Hard</a:t>
            </a:r>
            <a:r>
              <a:rPr lang="en-US" sz="1750"/>
              <a:t>ware</a:t>
            </a:r>
            <a:endParaRPr/>
          </a:p>
        </p:txBody>
      </p:sp>
      <p:pic>
        <p:nvPicPr>
          <p:cNvPr id="68" name="Google Shape;68;g3c507cd614e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588" y="5153450"/>
            <a:ext cx="1051025" cy="12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507cd614e_0_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72259">
            <a:off x="1767026" y="3699405"/>
            <a:ext cx="2969848" cy="167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c507cd614e_0_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8964" y="1561675"/>
            <a:ext cx="1871801" cy="230652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1" name="Google Shape;71;g3c507cd614e_0_156"/>
          <p:cNvSpPr/>
          <p:nvPr/>
        </p:nvSpPr>
        <p:spPr>
          <a:xfrm>
            <a:off x="3570775" y="2505038"/>
            <a:ext cx="1770300" cy="71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Patient MRI Data</a:t>
            </a:r>
            <a:endParaRPr/>
          </a:p>
        </p:txBody>
      </p:sp>
      <p:sp>
        <p:nvSpPr>
          <p:cNvPr id="72" name="Google Shape;72;g3c507cd614e_0_156"/>
          <p:cNvSpPr/>
          <p:nvPr/>
        </p:nvSpPr>
        <p:spPr>
          <a:xfrm>
            <a:off x="4800325" y="3740300"/>
            <a:ext cx="1568700" cy="1269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Cardiac Data</a:t>
            </a:r>
            <a:endParaRPr/>
          </a:p>
        </p:txBody>
      </p:sp>
      <p:pic>
        <p:nvPicPr>
          <p:cNvPr id="73" name="Google Shape;73;g3c507cd614e_0_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5725" y="5009313"/>
            <a:ext cx="2727426" cy="1534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g3c507cd614e_0_156"/>
          <p:cNvGrpSpPr/>
          <p:nvPr/>
        </p:nvGrpSpPr>
        <p:grpSpPr>
          <a:xfrm>
            <a:off x="5434462" y="2389964"/>
            <a:ext cx="1710503" cy="1733775"/>
            <a:chOff x="6022250" y="1945027"/>
            <a:chExt cx="2044100" cy="2071911"/>
          </a:xfrm>
        </p:grpSpPr>
        <p:pic>
          <p:nvPicPr>
            <p:cNvPr id="75" name="Google Shape;75;g3c507cd614e_0_15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22250" y="1945027"/>
              <a:ext cx="2044100" cy="2071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g3c507cd614e_0_156"/>
            <p:cNvSpPr/>
            <p:nvPr/>
          </p:nvSpPr>
          <p:spPr>
            <a:xfrm>
              <a:off x="6156400" y="2075475"/>
              <a:ext cx="1196400" cy="96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76500" lIns="76500" spcFirstLastPara="1" rIns="76500" wrap="square" tIns="7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1"/>
            </a:p>
          </p:txBody>
        </p:sp>
      </p:grpSp>
      <p:sp>
        <p:nvSpPr>
          <p:cNvPr id="77" name="Google Shape;77;g3c507cd614e_0_156"/>
          <p:cNvSpPr txBox="1"/>
          <p:nvPr/>
        </p:nvSpPr>
        <p:spPr>
          <a:xfrm>
            <a:off x="5503288" y="2596238"/>
            <a:ext cx="1950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Software</a:t>
            </a:r>
            <a:endParaRPr sz="1900">
              <a:solidFill>
                <a:schemeClr val="dk1"/>
              </a:solidFill>
            </a:endParaRPr>
          </a:p>
        </p:txBody>
      </p:sp>
      <p:cxnSp>
        <p:nvCxnSpPr>
          <p:cNvPr id="78" name="Google Shape;78;g3c507cd614e_0_156"/>
          <p:cNvCxnSpPr/>
          <p:nvPr/>
        </p:nvCxnSpPr>
        <p:spPr>
          <a:xfrm>
            <a:off x="1308250" y="4131325"/>
            <a:ext cx="1159200" cy="30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g3c507cd614e_0_156"/>
          <p:cNvCxnSpPr/>
          <p:nvPr/>
        </p:nvCxnSpPr>
        <p:spPr>
          <a:xfrm flipH="1" rot="10800000">
            <a:off x="734450" y="5715075"/>
            <a:ext cx="14115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g3c507cd614e_0_156"/>
          <p:cNvSpPr txBox="1"/>
          <p:nvPr/>
        </p:nvSpPr>
        <p:spPr>
          <a:xfrm>
            <a:off x="686375" y="3868200"/>
            <a:ext cx="7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Radar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g3c507cd614e_0_156"/>
          <p:cNvSpPr txBox="1"/>
          <p:nvPr/>
        </p:nvSpPr>
        <p:spPr>
          <a:xfrm>
            <a:off x="219075" y="5520675"/>
            <a:ext cx="7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PCB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82" name="Google Shape;82;g3c507cd614e_0_156"/>
          <p:cNvCxnSpPr/>
          <p:nvPr/>
        </p:nvCxnSpPr>
        <p:spPr>
          <a:xfrm>
            <a:off x="4372325" y="5680575"/>
            <a:ext cx="1193400" cy="19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g3c507cd614e_0_156"/>
          <p:cNvSpPr txBox="1"/>
          <p:nvPr/>
        </p:nvSpPr>
        <p:spPr>
          <a:xfrm>
            <a:off x="5452875" y="5715075"/>
            <a:ext cx="141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Data Capture Board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07cd614e_0_23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Integrated </a:t>
            </a:r>
            <a:r>
              <a:rPr lang="en-US"/>
              <a:t>System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/>
              <a:t>Software</a:t>
            </a:r>
            <a:endParaRPr sz="1750"/>
          </a:p>
        </p:txBody>
      </p:sp>
      <p:pic>
        <p:nvPicPr>
          <p:cNvPr id="90" name="Google Shape;90;g3c507cd614e_0_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450" y="1852877"/>
            <a:ext cx="5123469" cy="47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07cd614e_0_10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96" name="Google Shape;96;g3c507cd614e_0_106"/>
          <p:cNvGraphicFramePr/>
          <p:nvPr/>
        </p:nvGraphicFramePr>
        <p:xfrm>
          <a:off x="286334" y="2735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{EF59C1EC-5B55-4153-972D-5134AD914BC0}</a:tableStyleId>
              </a:tblPr>
              <a:tblGrid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Subsystem Designs and Testing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(</a:t>
                      </a:r>
                      <a:r>
                        <a:rPr lang="en-US" sz="1000"/>
                        <a:t>completed 2/2</a:t>
                      </a:r>
                      <a:r>
                        <a:rPr lang="en-US" sz="1000" u="none" cap="none" strike="noStrike"/>
                        <a:t>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PCB Ordered</a:t>
                      </a:r>
                      <a:r>
                        <a:rPr lang="en-US" sz="1000" u="none" cap="none" strike="noStrike"/>
                        <a:t> (completed </a:t>
                      </a:r>
                      <a:r>
                        <a:rPr lang="en-US" sz="1000"/>
                        <a:t>2/4</a:t>
                      </a:r>
                      <a:r>
                        <a:rPr lang="en-US" sz="1000" u="none" cap="none" strike="noStrike"/>
                        <a:t>)</a:t>
                      </a:r>
                      <a:endParaRPr sz="10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MCU and PCB Functionality Tests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(2/26)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/>
                        <a:t>Radar &amp; Data Capture Card Integrated</a:t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/>
                        <a:t>(03/04)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MCU and PCB Deployable </a:t>
                      </a:r>
                      <a:br>
                        <a:rPr 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(to complete by 3/16)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Integration of Scan Filter and MRI</a:t>
                      </a:r>
                      <a:br>
                        <a:rPr 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(to complete by 3/16)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Integration of Scan Filter and Desktop Application</a:t>
                      </a:r>
                      <a:br>
                        <a:rPr 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(to complete by 3/16)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System Testing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(to complete by </a:t>
                      </a:r>
                      <a:r>
                        <a:rPr lang="en-US" sz="1000"/>
                        <a:t>3/23</a:t>
                      </a:r>
                      <a:r>
                        <a:rPr lang="en-US" sz="1000" u="none" cap="none" strike="noStrike"/>
                        <a:t>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Validation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(to complete by </a:t>
                      </a:r>
                      <a:r>
                        <a:rPr lang="en-US" sz="1000"/>
                        <a:t>4/6</a:t>
                      </a:r>
                      <a:r>
                        <a:rPr lang="en-US" sz="1000" u="none" cap="none" strike="noStrike"/>
                        <a:t>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Demo and Report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(to complete by 4/19)</a:t>
                      </a:r>
                      <a:endParaRPr sz="10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br>
              <a:rPr lang="en-US"/>
            </a:br>
            <a:r>
              <a:rPr lang="en-US" sz="1600"/>
              <a:t>Andrew-Joseph Nicolas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00"/>
          </a:p>
        </p:txBody>
      </p:sp>
      <p:graphicFrame>
        <p:nvGraphicFramePr>
          <p:cNvPr id="102" name="Google Shape;102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{EF59C1EC-5B55-4153-972D-5134AD914BC0}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25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Board fully soldered and tested.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All rails work as expected.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MCU flashed successfully and passed blink test.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Fully integrate and validate the MCU </a:t>
                      </a:r>
                      <a:r>
                        <a:rPr lang="en-US" sz="1800"/>
                        <a:t>subsystem</a:t>
                      </a:r>
                      <a:r>
                        <a:rPr lang="en-US" sz="1800"/>
                        <a:t> on PCB.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br>
              <a:rPr lang="en-US"/>
            </a:br>
            <a:r>
              <a:rPr lang="en-US" sz="1600"/>
              <a:t>Andrew-Joseph Nicolas</a:t>
            </a:r>
            <a:endParaRPr/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21936" t="74749"/>
          <a:stretch/>
        </p:blipFill>
        <p:spPr>
          <a:xfrm>
            <a:off x="2407600" y="2212025"/>
            <a:ext cx="2286099" cy="9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7"/>
          <p:cNvPicPr preferRelativeResize="0"/>
          <p:nvPr/>
        </p:nvPicPr>
        <p:blipFill rotWithShape="1">
          <a:blip r:embed="rId4">
            <a:alphaModFix/>
          </a:blip>
          <a:srcRect b="20266" l="7108" r="40667" t="7380"/>
          <a:stretch/>
        </p:blipFill>
        <p:spPr>
          <a:xfrm>
            <a:off x="405500" y="2212025"/>
            <a:ext cx="1235677" cy="228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 txBox="1"/>
          <p:nvPr/>
        </p:nvSpPr>
        <p:spPr>
          <a:xfrm>
            <a:off x="335800" y="1845275"/>
            <a:ext cx="1679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MCU current draw: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2344775" y="1863125"/>
            <a:ext cx="2616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Successful communication: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2" name="Google Shape;112;p7"/>
          <p:cNvPicPr preferRelativeResize="0"/>
          <p:nvPr/>
        </p:nvPicPr>
        <p:blipFill rotWithShape="1">
          <a:blip r:embed="rId5">
            <a:alphaModFix/>
          </a:blip>
          <a:srcRect b="12283" l="0" r="0" t="33007"/>
          <a:stretch/>
        </p:blipFill>
        <p:spPr>
          <a:xfrm>
            <a:off x="2461000" y="3760050"/>
            <a:ext cx="2168225" cy="257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/>
        </p:nvSpPr>
        <p:spPr>
          <a:xfrm>
            <a:off x="2407600" y="3429000"/>
            <a:ext cx="1998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Flash confirmation: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14" name="Google Shape;114;p7"/>
          <p:cNvGraphicFramePr/>
          <p:nvPr/>
        </p:nvGraphicFramePr>
        <p:xfrm>
          <a:off x="5060700" y="219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{5B0CD054-44EA-4892-AE4B-171841F0ED30}</a:tableStyleId>
              </a:tblPr>
              <a:tblGrid>
                <a:gridCol w="1278750"/>
                <a:gridCol w="1278750"/>
                <a:gridCol w="1278750"/>
              </a:tblGrid>
              <a:tr h="102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DC </a:t>
                      </a:r>
                      <a:r>
                        <a:rPr lang="en-US"/>
                        <a:t>Rail: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Expected Voltage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Rating: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Actual Voltage Rating (V)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5V @ 2A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5V @ 3A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3.3V @ 1A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3.296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" name="Google Shape;115;p7"/>
          <p:cNvSpPr txBox="1"/>
          <p:nvPr/>
        </p:nvSpPr>
        <p:spPr>
          <a:xfrm>
            <a:off x="4961075" y="1863113"/>
            <a:ext cx="3487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Rail Voltage Measurements: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507cd614e_0_16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graphicFrame>
        <p:nvGraphicFramePr>
          <p:cNvPr id="121" name="Google Shape;121;g3c507cd614e_0_16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{EF59C1EC-5B55-4153-972D-5134AD914BC0}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13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Radar outputs accurate and consistent heart rate and respiration rate with adjusted configuration file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Radar and data capture card integrated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Begin live testing of raw I/Q data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MCU code with collected I/Q data to verify correct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07cd614e_3_12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sp>
        <p:nvSpPr>
          <p:cNvPr id="127" name="Google Shape;127;g3c507cd614e_3_12"/>
          <p:cNvSpPr txBox="1"/>
          <p:nvPr/>
        </p:nvSpPr>
        <p:spPr>
          <a:xfrm>
            <a:off x="2793300" y="1794750"/>
            <a:ext cx="3557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Radar Testing Changes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28" name="Google Shape;128;g3c507cd614e_3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75" y="3111725"/>
            <a:ext cx="2838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c507cd614e_3_12"/>
          <p:cNvSpPr txBox="1"/>
          <p:nvPr/>
        </p:nvSpPr>
        <p:spPr>
          <a:xfrm>
            <a:off x="181375" y="2557613"/>
            <a:ext cx="459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Configuration File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30" name="Google Shape;130;g3c507cd614e_3_12"/>
          <p:cNvSpPr txBox="1"/>
          <p:nvPr/>
        </p:nvSpPr>
        <p:spPr>
          <a:xfrm>
            <a:off x="181375" y="4400875"/>
            <a:ext cx="8351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Testing Parameters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31" name="Google Shape;131;g3c507cd614e_3_12"/>
          <p:cNvSpPr txBox="1"/>
          <p:nvPr/>
        </p:nvSpPr>
        <p:spPr>
          <a:xfrm>
            <a:off x="181375" y="4970275"/>
            <a:ext cx="835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Patient had no loose clothing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Radar remained in a 1.5m range from the patient while elevated to chest height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Patient remains in an upright position and did not talk during data collection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2" name="Google Shape;132;g3c507cd614e_3_12"/>
          <p:cNvSpPr txBox="1"/>
          <p:nvPr/>
        </p:nvSpPr>
        <p:spPr>
          <a:xfrm>
            <a:off x="181375" y="3827975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Changed the frame period from 90 ms to </a:t>
            </a:r>
            <a:r>
              <a:rPr lang="en-US" sz="1600">
                <a:solidFill>
                  <a:schemeClr val="dk1"/>
                </a:solidFill>
              </a:rPr>
              <a:t>70 ms</a:t>
            </a:r>
            <a:r>
              <a:rPr lang="en-US" sz="1600">
                <a:solidFill>
                  <a:schemeClr val="dk1"/>
                </a:solidFill>
              </a:rPr>
              <a:t> to increase data which updates heart rate more frequently for more accurate readings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3" name="Google Shape;133;g3c507cd614e_3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900" y="3429000"/>
            <a:ext cx="2476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507cd614e_0_172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pic>
        <p:nvPicPr>
          <p:cNvPr id="139" name="Google Shape;139;g3c507cd614e_0_172" title="Normal Resting rate test.png"/>
          <p:cNvPicPr preferRelativeResize="0"/>
          <p:nvPr/>
        </p:nvPicPr>
        <p:blipFill rotWithShape="1">
          <a:blip r:embed="rId3">
            <a:alphaModFix/>
          </a:blip>
          <a:srcRect b="482" l="61524" r="0" t="4982"/>
          <a:stretch/>
        </p:blipFill>
        <p:spPr>
          <a:xfrm>
            <a:off x="4956650" y="2518775"/>
            <a:ext cx="3223650" cy="427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c507cd614e_0_172" title="IMG_102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424" y="2993313"/>
            <a:ext cx="2491173" cy="332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c507cd614e_0_172"/>
          <p:cNvSpPr txBox="1"/>
          <p:nvPr/>
        </p:nvSpPr>
        <p:spPr>
          <a:xfrm>
            <a:off x="2235750" y="1852750"/>
            <a:ext cx="471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Normal Resting Heart Rate Test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507cd614e_3_3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sp>
        <p:nvSpPr>
          <p:cNvPr id="147" name="Google Shape;147;g3c507cd614e_3_3"/>
          <p:cNvSpPr txBox="1"/>
          <p:nvPr/>
        </p:nvSpPr>
        <p:spPr>
          <a:xfrm>
            <a:off x="3035100" y="1852750"/>
            <a:ext cx="30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Holding Breath</a:t>
            </a:r>
            <a:r>
              <a:rPr lang="en-US" sz="2500">
                <a:solidFill>
                  <a:schemeClr val="dk1"/>
                </a:solidFill>
              </a:rPr>
              <a:t> Test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48" name="Google Shape;148;g3c507cd614e_3_3" title="Holding Breath Test.png"/>
          <p:cNvPicPr preferRelativeResize="0"/>
          <p:nvPr/>
        </p:nvPicPr>
        <p:blipFill rotWithShape="1">
          <a:blip r:embed="rId3">
            <a:alphaModFix/>
          </a:blip>
          <a:srcRect b="0" l="61378" r="0" t="5339"/>
          <a:stretch/>
        </p:blipFill>
        <p:spPr>
          <a:xfrm>
            <a:off x="5122950" y="2422150"/>
            <a:ext cx="3220024" cy="419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c507cd614e_3_3" title="IMG_102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875" y="2623749"/>
            <a:ext cx="2846776" cy="3795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507cd614e_3_25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Radar/MCU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pic>
        <p:nvPicPr>
          <p:cNvPr id="155" name="Google Shape;155;g3c507cd614e_3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023950"/>
            <a:ext cx="3923301" cy="29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c507cd614e_3_25" title="Screenshot 2026-03-04 143854.png"/>
          <p:cNvPicPr preferRelativeResize="0"/>
          <p:nvPr/>
        </p:nvPicPr>
        <p:blipFill rotWithShape="1">
          <a:blip r:embed="rId4">
            <a:alphaModFix/>
          </a:blip>
          <a:srcRect b="32153" l="0" r="48278" t="0"/>
          <a:stretch/>
        </p:blipFill>
        <p:spPr>
          <a:xfrm>
            <a:off x="4572000" y="4384475"/>
            <a:ext cx="4502176" cy="214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507cd614e_0_17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br>
              <a:rPr lang="en-US"/>
            </a:br>
            <a:r>
              <a:rPr lang="en-US" sz="1600"/>
              <a:t>Harin Sankar </a:t>
            </a:r>
            <a:endParaRPr/>
          </a:p>
        </p:txBody>
      </p:sp>
      <p:graphicFrame>
        <p:nvGraphicFramePr>
          <p:cNvPr id="162" name="Google Shape;162;g3c507cd614e_0_178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{EF59C1EC-5B55-4153-972D-5134AD914BC0}</a:tableStyleId>
              </a:tblPr>
              <a:tblGrid>
                <a:gridCol w="3886200"/>
                <a:gridCol w="3886200"/>
              </a:tblGrid>
              <a:tr h="85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15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/>
                        <a:t>MCU Integration</a:t>
                      </a:r>
                      <a:endParaRPr sz="1800" u="sng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Simulated whole-file cardiogram transfer and verified ingestion.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Simulated live cardiogram streaming and verified ingestion.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MCU Integration</a:t>
                      </a:r>
                      <a:endParaRPr sz="1800" u="sng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Python cardiogram ingestion using the actual MCU hardware.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/>
                        <a:t>MRI Integration</a:t>
                      </a:r>
                      <a:endParaRPr sz="1800" u="sng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k-space (.mrd) scans with python reader</a:t>
                      </a:r>
                      <a:endParaRPr sz="1800" u="sng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sng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507cd614e_1_6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MRI-Scan Filter Integration</a:t>
            </a:r>
            <a:br>
              <a:rPr lang="en-US"/>
            </a:br>
            <a:r>
              <a:rPr lang="en-US" sz="1600"/>
              <a:t>Harin Sankar</a:t>
            </a:r>
            <a:endParaRPr/>
          </a:p>
        </p:txBody>
      </p:sp>
      <p:pic>
        <p:nvPicPr>
          <p:cNvPr id="168" name="Google Shape;168;g3c507cd614e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650" y="2005138"/>
            <a:ext cx="7050693" cy="470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507cd614e_1_20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MRI-Scan Filter Integration</a:t>
            </a:r>
            <a:br>
              <a:rPr lang="en-US"/>
            </a:br>
            <a:r>
              <a:rPr lang="en-US" sz="1600"/>
              <a:t>Harin Sankar</a:t>
            </a:r>
            <a:endParaRPr/>
          </a:p>
        </p:txBody>
      </p:sp>
      <p:pic>
        <p:nvPicPr>
          <p:cNvPr id="174" name="Google Shape;174;g3c507cd614e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75" y="2687325"/>
            <a:ext cx="4427225" cy="39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c507cd614e_1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200" y="2687325"/>
            <a:ext cx="4249950" cy="39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c507cd614e_1_20"/>
          <p:cNvSpPr txBox="1"/>
          <p:nvPr/>
        </p:nvSpPr>
        <p:spPr>
          <a:xfrm>
            <a:off x="1394400" y="2146300"/>
            <a:ext cx="317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Row Transfer 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77" name="Google Shape;177;g3c507cd614e_1_20"/>
          <p:cNvSpPr txBox="1"/>
          <p:nvPr/>
        </p:nvSpPr>
        <p:spPr>
          <a:xfrm>
            <a:off x="6027375" y="2146300"/>
            <a:ext cx="317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File </a:t>
            </a:r>
            <a:r>
              <a:rPr lang="en-US" sz="2300">
                <a:solidFill>
                  <a:schemeClr val="dk1"/>
                </a:solidFill>
              </a:rPr>
              <a:t>Transfer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507cd614e_0_19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br>
              <a:rPr lang="en-US"/>
            </a:br>
            <a:r>
              <a:rPr lang="en-US" sz="1600"/>
              <a:t>Simon Becker</a:t>
            </a:r>
            <a:endParaRPr/>
          </a:p>
        </p:txBody>
      </p:sp>
      <p:graphicFrame>
        <p:nvGraphicFramePr>
          <p:cNvPr id="183" name="Google Shape;183;g3c507cd614e_0_194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{EF59C1EC-5B55-4153-972D-5134AD914BC0}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 10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Passed Python.NET testbench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Import Scan Filter code into the Python.NET bridge</a:t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Testing the output of Scan Filter compatibility with Image Viewer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507cd614e_0_204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Simon Becker</a:t>
            </a:r>
            <a:endParaRPr/>
          </a:p>
        </p:txBody>
      </p:sp>
      <p:sp>
        <p:nvSpPr>
          <p:cNvPr id="189" name="Google Shape;189;g3c507cd614e_0_204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2600" u="sng"/>
              <a:t>Python.NET Testbench:</a:t>
            </a:r>
            <a:endParaRPr b="1" sz="2600" u="sng"/>
          </a:p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Key Functionalities:</a:t>
            </a:r>
            <a:endParaRPr sz="2600"/>
          </a:p>
          <a:p>
            <a:pPr indent="-393700" lvl="1" marL="914400" rtl="0" algn="l">
              <a:spcBef>
                <a:spcPts val="36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Generate DICOM images with metadata</a:t>
            </a:r>
            <a:endParaRPr sz="2600"/>
          </a:p>
          <a:p>
            <a:pPr indent="-393700" lvl="1" marL="914400" rtl="0" algn="l">
              <a:spcBef>
                <a:spcPts val="36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Validate potential MCU inputs (.csv)</a:t>
            </a:r>
            <a:endParaRPr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90" name="Google Shape;190;g3c507cd614e_0_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590125"/>
            <a:ext cx="8229601" cy="353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10" l="0" r="0" t="1215"/>
          <a:stretch/>
        </p:blipFill>
        <p:spPr>
          <a:xfrm>
            <a:off x="152400" y="2077150"/>
            <a:ext cx="8839198" cy="3956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507cd614e_1_3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Validation Plan</a:t>
            </a:r>
            <a:endParaRPr/>
          </a:p>
        </p:txBody>
      </p:sp>
      <p:pic>
        <p:nvPicPr>
          <p:cNvPr id="202" name="Google Shape;202;g3c507cd614e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277"/>
            <a:ext cx="8839202" cy="2648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4,5,6,8,9</vt:lpwstr>
  </property>
</Properties>
</file>