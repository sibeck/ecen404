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QjzjSmyYAHiYaw47g29hObA31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C29C77-D142-4A76-966E-4BF9E6680BC1}">
  <a:tblStyle styleId="{13C29C77-D142-4A76-966E-4BF9E6680B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d071450c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bd071450c3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071450c3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2" name="Google Shape;72;g3bd071450c3_1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35cdb08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g3c35cdb0858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35cdb0858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c35cdb08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35cdb08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g3c35cdb0858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35cdb0858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c35cdb085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071450c3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d071450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35cdb08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g3c35cdb085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35cdb0858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35cdb08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br>
              <a:rPr lang="en-US" sz="2455"/>
            </a:b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071450c3_1_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66" name="Google Shape;66;g3bd071450c3_1_8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600"/>
          </a:p>
        </p:txBody>
      </p:sp>
      <p:sp>
        <p:nvSpPr>
          <p:cNvPr id="67" name="Google Shape;67;g3bd071450c3_1_8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Dostál, M., Jurasová, K., Keřkovský, M. </a:t>
            </a:r>
            <a:r>
              <a:rPr i="1" lang="en-US" sz="1200">
                <a:solidFill>
                  <a:schemeClr val="dk1"/>
                </a:solidFill>
              </a:rPr>
              <a:t>et al.</a:t>
            </a:r>
            <a:r>
              <a:rPr lang="en-US" sz="1200">
                <a:solidFill>
                  <a:schemeClr val="dk1"/>
                </a:solidFill>
              </a:rPr>
              <a:t> What factors affect a patient’s subjective perception of MRI examination. </a:t>
            </a:r>
            <a:r>
              <a:rPr i="1" lang="en-US" sz="1200">
                <a:solidFill>
                  <a:schemeClr val="dk1"/>
                </a:solidFill>
              </a:rPr>
              <a:t>Sci Rep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14</a:t>
            </a:r>
            <a:r>
              <a:rPr lang="en-US" sz="1200">
                <a:solidFill>
                  <a:schemeClr val="dk1"/>
                </a:solidFill>
              </a:rPr>
              <a:t>, 22731 (2024). https://doi.org/10.1038/s41598-024-74231-9</a:t>
            </a:r>
            <a:endParaRPr sz="1200"/>
          </a:p>
        </p:txBody>
      </p:sp>
      <p:pic>
        <p:nvPicPr>
          <p:cNvPr id="68" name="Google Shape;68;g3bd071450c3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bd071450c3_1_8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d071450c3_1_6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pic>
        <p:nvPicPr>
          <p:cNvPr id="75" name="Google Shape;75;g3bd071450c3_1_61" title="Block Diagram 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00" y="1673300"/>
            <a:ext cx="8316600" cy="480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286334" y="2735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{13C29C77-D142-4A76-966E-4BF9E6680BC1}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Subsystem Designs and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</a:t>
                      </a:r>
                      <a:r>
                        <a:rPr lang="en-US" sz="1300"/>
                        <a:t>completed 2/2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PCB Ordered</a:t>
                      </a:r>
                      <a:r>
                        <a:rPr lang="en-US" sz="1300" u="none" cap="none" strike="noStrike"/>
                        <a:t> (completed </a:t>
                      </a:r>
                      <a:r>
                        <a:rPr lang="en-US" sz="1300"/>
                        <a:t>2/4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MCU and PCB Integration 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2/16)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Scan Filter and Desktop Application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2/23)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System Testing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3/11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4/6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4/19)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Andrew</a:t>
            </a:r>
            <a:endParaRPr sz="2980"/>
          </a:p>
        </p:txBody>
      </p:sp>
      <p:graphicFrame>
        <p:nvGraphicFramePr>
          <p:cNvPr id="87" name="Google Shape;87;p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{13C29C77-D142-4A76-966E-4BF9E6680BC1}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25 hours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44715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PCB Ordered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Hardware Confirmed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Order supplemental materials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Continue configuring radar and DCA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Andrew</a:t>
            </a:r>
            <a:endParaRPr sz="2980"/>
          </a:p>
        </p:txBody>
      </p:sp>
      <p:sp>
        <p:nvSpPr>
          <p:cNvPr id="93" name="Google Shape;93;p6"/>
          <p:cNvSpPr txBox="1"/>
          <p:nvPr/>
        </p:nvSpPr>
        <p:spPr>
          <a:xfrm>
            <a:off x="4999975" y="2159875"/>
            <a:ext cx="2956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Specifications: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3 Buck ICs:</a:t>
            </a:r>
            <a:endParaRPr/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12 to 5V @ 3A</a:t>
            </a:r>
            <a:endParaRPr/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12 to 5V @ 2A</a:t>
            </a:r>
            <a:endParaRPr/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12 to 3.3V @ 0.5A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MCU:</a:t>
            </a:r>
            <a:endParaRPr/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STM32F407G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BNC Connector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MCU SWD and UART Pinout Headers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Compatible Hardware: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IWR6843AOPEVM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DCA1000EVM</a:t>
            </a:r>
            <a:endParaRPr/>
          </a:p>
        </p:txBody>
      </p:sp>
      <p:pic>
        <p:nvPicPr>
          <p:cNvPr id="94" name="Google Shape;9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013"/>
            <a:ext cx="3965397" cy="470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35cdb0858_0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Lance Pagaduan</a:t>
            </a:r>
            <a:endParaRPr sz="2980"/>
          </a:p>
        </p:txBody>
      </p:sp>
      <p:graphicFrame>
        <p:nvGraphicFramePr>
          <p:cNvPr id="100" name="Google Shape;100;g3c35cdb0858_0_1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{13C29C77-D142-4A76-966E-4BF9E6680BC1}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10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Finalized MCU components for PCB integration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Flashed the IWR6843AOP Radar with sample vital sign data and verified with reset button for integration with data capture card and MCU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Working on output of vital sign data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Configuration of datacard </a:t>
                      </a:r>
                      <a:r>
                        <a:rPr lang="en-US" sz="1800"/>
                        <a:t>capture</a:t>
                      </a:r>
                      <a:r>
                        <a:rPr lang="en-US" sz="1800"/>
                        <a:t> for live I/Q values for integration with MCU/PCB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g3c35cdb0858_0_12"/>
          <p:cNvSpPr txBox="1"/>
          <p:nvPr/>
        </p:nvSpPr>
        <p:spPr>
          <a:xfrm>
            <a:off x="544945" y="4599710"/>
            <a:ext cx="84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35cdb0858_0_30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Lance Pagaduan</a:t>
            </a:r>
            <a:endParaRPr sz="2980"/>
          </a:p>
        </p:txBody>
      </p:sp>
      <p:pic>
        <p:nvPicPr>
          <p:cNvPr id="107" name="Google Shape;107;g3c35cdb0858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925" y="2157538"/>
            <a:ext cx="5526149" cy="4700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5cdb0858_0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Harin Sankar </a:t>
            </a:r>
            <a:endParaRPr sz="2980"/>
          </a:p>
        </p:txBody>
      </p:sp>
      <p:graphicFrame>
        <p:nvGraphicFramePr>
          <p:cNvPr id="113" name="Google Shape;113;g3c35cdb0858_0_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{13C29C77-D142-4A76-966E-4BF9E6680BC1}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 15 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</a:t>
                      </a:r>
                      <a:r>
                        <a:rPr lang="en-US" sz="1800"/>
                        <a:t>, </a:t>
                      </a:r>
                      <a:r>
                        <a:rPr lang="en-US" sz="1800" u="none" cap="none" strike="noStrike"/>
                        <a:t>problems</a:t>
                      </a:r>
                      <a:r>
                        <a:rPr lang="en-US" sz="1800"/>
                        <a:t>,</a:t>
                      </a:r>
                      <a:r>
                        <a:rPr lang="en-US" sz="1800" u="none" cap="none" strike="noStrike"/>
                        <a:t> plans,</a:t>
                      </a:r>
                      <a:r>
                        <a:rPr lang="en-US" sz="1800"/>
                        <a:t> and goals</a:t>
                      </a:r>
                      <a:r>
                        <a:rPr lang="en-US" sz="1800" u="none" cap="none" strike="noStrike"/>
                        <a:t>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Mapped MRI outputs + Python ingest needs for Siemens, MR Solutions, and Esaote.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Defined C#-Python integration plan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Implement MRI-filter pipeline so vendor exports are filter-ready.</a:t>
                      </a:r>
                      <a:endParaRPr sz="16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Communicate with Institutional Review Board and Vet School</a:t>
                      </a:r>
                      <a:endParaRPr sz="16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Begin C# UI–Python scan filter integration</a:t>
                      </a:r>
                      <a:endParaRPr sz="16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Plan TTL (prospective) vs retrospective comparison using Esaote</a:t>
                      </a:r>
                      <a:endParaRPr sz="16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5cdb0858_0_24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Harin Sankar </a:t>
            </a:r>
            <a:endParaRPr sz="2980"/>
          </a:p>
        </p:txBody>
      </p:sp>
      <p:sp>
        <p:nvSpPr>
          <p:cNvPr id="119" name="Google Shape;119;g3c35cdb0858_0_24"/>
          <p:cNvSpPr txBox="1"/>
          <p:nvPr/>
        </p:nvSpPr>
        <p:spPr>
          <a:xfrm>
            <a:off x="3117775" y="2333875"/>
            <a:ext cx="4541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Vendor Data </a:t>
            </a:r>
            <a:r>
              <a:rPr lang="en-US">
                <a:solidFill>
                  <a:schemeClr val="dk1"/>
                </a:solidFill>
              </a:rPr>
              <a:t>Acquisition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g3c35cdb0858_0_24"/>
          <p:cNvPicPr preferRelativeResize="0"/>
          <p:nvPr/>
        </p:nvPicPr>
        <p:blipFill rotWithShape="1">
          <a:blip r:embed="rId3">
            <a:alphaModFix/>
          </a:blip>
          <a:srcRect b="7324" l="1816" r="31396" t="12534"/>
          <a:stretch/>
        </p:blipFill>
        <p:spPr>
          <a:xfrm>
            <a:off x="630525" y="3988650"/>
            <a:ext cx="2726224" cy="166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c35cdb0858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525" y="4002313"/>
            <a:ext cx="2767050" cy="163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c35cdb0858_0_24"/>
          <p:cNvSpPr txBox="1"/>
          <p:nvPr/>
        </p:nvSpPr>
        <p:spPr>
          <a:xfrm>
            <a:off x="1317813" y="3676425"/>
            <a:ext cx="1564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Siemens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g3c35cdb0858_0_24"/>
          <p:cNvSpPr txBox="1"/>
          <p:nvPr/>
        </p:nvSpPr>
        <p:spPr>
          <a:xfrm>
            <a:off x="5599475" y="3676425"/>
            <a:ext cx="18771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MR Solutions Data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4" name="Google Shape;124;g3c35cdb0858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950" y="2775500"/>
            <a:ext cx="8309847" cy="9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071450c3_0_5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Harin Sankar </a:t>
            </a:r>
            <a:endParaRPr sz="2980"/>
          </a:p>
        </p:txBody>
      </p:sp>
      <p:sp>
        <p:nvSpPr>
          <p:cNvPr id="130" name="Google Shape;130;g3bd071450c3_0_5"/>
          <p:cNvSpPr txBox="1"/>
          <p:nvPr/>
        </p:nvSpPr>
        <p:spPr>
          <a:xfrm>
            <a:off x="3413600" y="2244575"/>
            <a:ext cx="38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Software Integration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g3bd071450c3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45575"/>
            <a:ext cx="8839201" cy="23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5cdb0858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Simon Becker</a:t>
            </a:r>
            <a:endParaRPr sz="2980"/>
          </a:p>
        </p:txBody>
      </p:sp>
      <p:graphicFrame>
        <p:nvGraphicFramePr>
          <p:cNvPr id="137" name="Google Shape;137;g3c35cdb0858_0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{13C29C77-D142-4A76-966E-4BF9E6680BC1}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10 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Applied built-in DICOM metadata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Migrated existing codebase to GitHub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Integrating </a:t>
                      </a:r>
                      <a:r>
                        <a:rPr b="1" lang="en-US" sz="1800"/>
                        <a:t>Scan Filter </a:t>
                      </a:r>
                      <a:r>
                        <a:rPr lang="en-US" sz="1800"/>
                        <a:t>code with </a:t>
                      </a:r>
                      <a:r>
                        <a:rPr b="1" lang="en-US" sz="1800"/>
                        <a:t>User Interface</a:t>
                      </a:r>
                      <a:r>
                        <a:rPr lang="en-US" sz="1800"/>
                        <a:t> code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35cdb0858_0_18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Simon Becker</a:t>
            </a:r>
            <a:endParaRPr sz="2980"/>
          </a:p>
        </p:txBody>
      </p:sp>
      <p:pic>
        <p:nvPicPr>
          <p:cNvPr id="143" name="Google Shape;143;g3c35cdb0858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8563"/>
            <a:ext cx="8839202" cy="248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75" y="1700477"/>
            <a:ext cx="7162654" cy="485272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</vt:lpwstr>
  </property>
</Properties>
</file>