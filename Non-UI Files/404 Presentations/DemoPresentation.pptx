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gKboeJKk0Uww+xwdOvU2vP2egw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AEEF7C-476E-45B7-A03C-5C47391B52DE}">
  <a:tblStyle styleId="{D1AEEF7C-476E-45B7-A03C-5C47391B52D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e0d8ecaa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108" name="Google Shape;108;g3de0d8ecaac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e0d8ecaac_1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117" name="Google Shape;117;g3de0d8ecaac_1_3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00bab2c16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00bab2c1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e00bab2c1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00bab2c16_0_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00bab2c16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00bab2c16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00bab2c16_0_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00bab2c16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e00bab2c16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01345eeb0_0_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01345eeb0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e01345eeb0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01345eeb0_0_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01345eeb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01345eeb0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01345eeb0_0_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01345eeb0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01345eeb0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00bab2c16_0_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00bab2c16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00bab2c16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00bab2c16_0_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00bab2c16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00bab2c16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00bab2c16_0_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00bab2c16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00bab2c16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00bab2c16_0_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00bab2c16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e00bab2c16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7f3dc80d3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7f3dc80d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d7f3dc80d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7f85c2d7b_0_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7f85c2d7b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7f85c2d7b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00bab2c16_0_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00bab2c16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e00bab2c16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800b31e56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800b31e5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800b31e5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800b31e56_0_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800b31e56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d800b31e56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00bab2c16_0_8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00bab2c16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00bab2c16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1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e0d8ecaac_1_35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de0d8ecaac_1_356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g3de0d8ecaac_1_3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de0d8ecaac_1_3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de0d8ecaac_1_3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g3de0d8ecaac_1_3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4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e0d8ecaac_1_363"/>
          <p:cNvSpPr txBox="1"/>
          <p:nvPr>
            <p:ph type="ctrTitle"/>
          </p:nvPr>
        </p:nvSpPr>
        <p:spPr>
          <a:xfrm>
            <a:off x="3969582" y="2130425"/>
            <a:ext cx="4488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de0d8ecaac_1_363"/>
          <p:cNvSpPr txBox="1"/>
          <p:nvPr>
            <p:ph idx="1" type="subTitle"/>
          </p:nvPr>
        </p:nvSpPr>
        <p:spPr>
          <a:xfrm>
            <a:off x="3124200" y="3886200"/>
            <a:ext cx="5334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0" name="Google Shape;70;g3de0d8ecaac_1_36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de0d8ecaac_1_36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de0d8ecaac_1_36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e0d8ecaac_1_369"/>
          <p:cNvSpPr txBox="1"/>
          <p:nvPr>
            <p:ph idx="1" type="body"/>
          </p:nvPr>
        </p:nvSpPr>
        <p:spPr>
          <a:xfrm>
            <a:off x="457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g3de0d8ecaac_1_369"/>
          <p:cNvSpPr txBox="1"/>
          <p:nvPr>
            <p:ph idx="2" type="body"/>
          </p:nvPr>
        </p:nvSpPr>
        <p:spPr>
          <a:xfrm>
            <a:off x="4648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6" name="Google Shape;76;g3de0d8ecaac_1_36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de0d8ecaac_1_36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de0d8ecaac_1_36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g3de0d8ecaac_1_369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0d8ecaac_1_376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de0d8ecaac_1_37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de0d8ecaac_1_37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de0d8ecaac_1_37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e0d8ecaac_1_381"/>
          <p:cNvSpPr txBox="1"/>
          <p:nvPr>
            <p:ph type="title"/>
          </p:nvPr>
        </p:nvSpPr>
        <p:spPr>
          <a:xfrm>
            <a:off x="457200" y="1066968"/>
            <a:ext cx="30084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de0d8ecaac_1_381"/>
          <p:cNvSpPr txBox="1"/>
          <p:nvPr>
            <p:ph idx="1" type="body"/>
          </p:nvPr>
        </p:nvSpPr>
        <p:spPr>
          <a:xfrm>
            <a:off x="3575050" y="1073720"/>
            <a:ext cx="5111700" cy="50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8" name="Google Shape;88;g3de0d8ecaac_1_381"/>
          <p:cNvSpPr txBox="1"/>
          <p:nvPr>
            <p:ph idx="2" type="body"/>
          </p:nvPr>
        </p:nvSpPr>
        <p:spPr>
          <a:xfrm>
            <a:off x="457200" y="1803850"/>
            <a:ext cx="3008400" cy="4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9" name="Google Shape;89;g3de0d8ecaac_1_38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de0d8ecaac_1_38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de0d8ecaac_1_38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e0d8ecaac_1_388"/>
          <p:cNvSpPr txBox="1"/>
          <p:nvPr>
            <p:ph type="title"/>
          </p:nvPr>
        </p:nvSpPr>
        <p:spPr>
          <a:xfrm>
            <a:off x="457200" y="1196430"/>
            <a:ext cx="2573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de0d8ecaac_1_388"/>
          <p:cNvSpPr/>
          <p:nvPr>
            <p:ph idx="2" type="pic"/>
          </p:nvPr>
        </p:nvSpPr>
        <p:spPr>
          <a:xfrm>
            <a:off x="3200400" y="1196430"/>
            <a:ext cx="5486400" cy="48504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g3de0d8ecaac_1_388"/>
          <p:cNvSpPr txBox="1"/>
          <p:nvPr>
            <p:ph idx="1" type="body"/>
          </p:nvPr>
        </p:nvSpPr>
        <p:spPr>
          <a:xfrm>
            <a:off x="457200" y="1768043"/>
            <a:ext cx="25737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g3de0d8ecaac_1_3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de0d8ecaac_1_3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de0d8ecaac_1_3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e0d8ecaac_1_3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g3de0d8ecaac_1_35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de0d8ecaac_1_35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de0d8ecaac_1_35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g3de0d8ecaac_1_35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Ry3fKfg0whu_MgHtAlOk5pXtAhYQPfeC/view" TargetMode="External"/><Relationship Id="rId4" Type="http://schemas.openxmlformats.org/officeDocument/2006/relationships/image" Target="../media/image8.jpg"/><Relationship Id="rId5" Type="http://schemas.openxmlformats.org/officeDocument/2006/relationships/hyperlink" Target="http://drive.google.com/file/d/1xZMqe8SNoKzWCQmwH1xtwsMcucrUSE4z/view" TargetMode="External"/><Relationship Id="rId6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>
            <p:ph type="ctrTitle"/>
          </p:nvPr>
        </p:nvSpPr>
        <p:spPr>
          <a:xfrm>
            <a:off x="1680400" y="4116200"/>
            <a:ext cx="73026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50: Remote </a:t>
            </a:r>
            <a:br>
              <a:rPr lang="en-US"/>
            </a:br>
            <a:r>
              <a:rPr lang="en-US"/>
              <a:t>Biometric System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83673"/>
              <a:buFont typeface="Arial"/>
              <a:buNone/>
            </a:pPr>
            <a:r>
              <a:rPr lang="en-US"/>
              <a:t>Demo</a:t>
            </a:r>
            <a:br>
              <a:rPr lang="en-US"/>
            </a:br>
            <a:r>
              <a:rPr lang="en-US" sz="2800"/>
              <a:t>Simon Becker</a:t>
            </a:r>
            <a:endParaRPr sz="28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 sz="2800"/>
              <a:t>Andrew-Joseph Nicolas</a:t>
            </a:r>
            <a:endParaRPr sz="28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 sz="2800"/>
              <a:t>Lance Pagaduan</a:t>
            </a:r>
            <a:endParaRPr sz="28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Arial"/>
              <a:buNone/>
            </a:pPr>
            <a:r>
              <a:rPr lang="en-US" sz="2800"/>
              <a:t>Harin Sankar</a:t>
            </a:r>
            <a:br>
              <a:rPr lang="en-US" sz="2455"/>
            </a:br>
            <a:r>
              <a:rPr lang="en-US" sz="2455"/>
              <a:t>Sponsor: Dr. Steven Wright</a:t>
            </a:r>
            <a:br>
              <a:rPr lang="en-US" sz="2455"/>
            </a:br>
            <a:r>
              <a:rPr lang="en-US" sz="2455"/>
              <a:t>TA: Hailey Ward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e0d8ecaac_1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Contactless Cardiac Gating</a:t>
            </a:r>
            <a:endParaRPr/>
          </a:p>
        </p:txBody>
      </p:sp>
      <p:sp>
        <p:nvSpPr>
          <p:cNvPr id="111" name="Google Shape;111;g3de0d8ecaac_1_0"/>
          <p:cNvSpPr txBox="1"/>
          <p:nvPr>
            <p:ph idx="1" type="body"/>
          </p:nvPr>
        </p:nvSpPr>
        <p:spPr>
          <a:xfrm>
            <a:off x="0" y="2097450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Extensive and uncomfortable prep can be necessary</a:t>
            </a:r>
            <a:endParaRPr baseline="30000" sz="2600"/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MRI Patient throughput can be improved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32% of patients think they wait too long for MRIs</a:t>
            </a:r>
            <a:r>
              <a:rPr baseline="30000" lang="en-US" sz="2600"/>
              <a:t>1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aseline="30000" sz="2600"/>
          </a:p>
        </p:txBody>
      </p:sp>
      <p:sp>
        <p:nvSpPr>
          <p:cNvPr id="112" name="Google Shape;112;g3de0d8ecaac_1_0"/>
          <p:cNvSpPr txBox="1"/>
          <p:nvPr/>
        </p:nvSpPr>
        <p:spPr>
          <a:xfrm>
            <a:off x="96600" y="6303900"/>
            <a:ext cx="895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Dostál, M., Jurasová, K., Keřkovský, M. </a:t>
            </a: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 al.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What factors affect a patient’s subjective perception of MRI examination. </a:t>
            </a: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 Rep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22731 (2024). https://doi.org/10.1038/s41598-024-74231-9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g3de0d8ecaac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7650" y="2161887"/>
            <a:ext cx="4699750" cy="281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de0d8ecaac_1_0"/>
          <p:cNvSpPr txBox="1"/>
          <p:nvPr/>
        </p:nvSpPr>
        <p:spPr>
          <a:xfrm>
            <a:off x="4347625" y="4904075"/>
            <a:ext cx="469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Vasireddy, Rakesh &amp; Roth, Corinne &amp; Mathis, Johannes &amp; Goette, Josef &amp; Jacomet, Marcel &amp; Vogt, Andreas. (2018). K-band Doppler radar for contact-less overnight sleep marker assessment: a pilot validation study. Journal of Clinical Monitoring and Computing. 32. 10.1007/s10877-017-0060-9. </a:t>
            </a:r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e0d8ecaac_1_34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Contactless Cardiac Gating</a:t>
            </a:r>
            <a:endParaRPr/>
          </a:p>
        </p:txBody>
      </p:sp>
      <p:pic>
        <p:nvPicPr>
          <p:cNvPr id="120" name="Google Shape;120;g3de0d8ecaac_1_345" title="Block Diagram Presentat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700" y="1673300"/>
            <a:ext cx="8316600" cy="4804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00bab2c16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PCB Technical Merit</a:t>
            </a:r>
            <a:endParaRPr/>
          </a:p>
        </p:txBody>
      </p:sp>
      <p:sp>
        <p:nvSpPr>
          <p:cNvPr id="127" name="Google Shape;127;g3e00bab2c16_0_0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17183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Designed and built a multi-rail power PCB, including component selection, schematic capture, layout, and assembly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Validated transient performance under dynamic loads, achieving &lt;±100 mV deviation and 80–120 µs settling time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Verified stable system operation powering MCU and peripherals, with reliable UART communication and no resets under load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Implemented board functionality with all custom hardware and on-board MCU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00bab2c16_0_2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PCB Demo Functionality</a:t>
            </a:r>
            <a:endParaRPr/>
          </a:p>
        </p:txBody>
      </p:sp>
      <p:sp>
        <p:nvSpPr>
          <p:cNvPr id="134" name="Google Shape;134;g3e00bab2c16_0_24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Probe all rails and confirm correct voltage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Showcase all hardware is powered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Discuss design choices and highlight key integration functionality with MCU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00bab2c16_0_7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PCB Validation</a:t>
            </a:r>
            <a:endParaRPr/>
          </a:p>
        </p:txBody>
      </p:sp>
      <p:graphicFrame>
        <p:nvGraphicFramePr>
          <p:cNvPr id="141" name="Google Shape;141;g3e00bab2c16_0_78"/>
          <p:cNvGraphicFramePr/>
          <p:nvPr/>
        </p:nvGraphicFramePr>
        <p:xfrm>
          <a:off x="457200" y="23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{D1AEEF7C-476E-45B7-A03C-5C47391B52DE}</a:tableStyleId>
              </a:tblPr>
              <a:tblGrid>
                <a:gridCol w="1304925"/>
                <a:gridCol w="1371600"/>
                <a:gridCol w="952500"/>
                <a:gridCol w="952500"/>
                <a:gridCol w="952500"/>
              </a:tblGrid>
              <a:tr h="352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Load Current (A)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Vin (No Load) (V)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Vin (With Load) (V)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ΔVin (mV)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% Drop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12.14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12.09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0.41%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12.14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12.03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0.91%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12.14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11.96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180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1.48%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2" name="Google Shape;142;g3e00bab2c16_0_78"/>
          <p:cNvGraphicFramePr/>
          <p:nvPr/>
        </p:nvGraphicFramePr>
        <p:xfrm>
          <a:off x="457200" y="40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{D1AEEF7C-476E-45B7-A03C-5C47391B52DE}</a:tableStyleId>
              </a:tblPr>
              <a:tblGrid>
                <a:gridCol w="1304925"/>
                <a:gridCol w="13716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352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Rail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Steady State (V)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Undershoot (mV)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Overshoot (mV)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Min Voltage (V)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Max Voltage (V)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Settling Time (µs)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Within Range?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5V, 3A (0.5A Step)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4.939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Yes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5V, 2A (0.5A Step)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4.908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4.955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Yes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5V, 3A (0.75A Step)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4.928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Yes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5V, 2A (0.75A Step)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4.897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4.966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Yes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5V, 3A (1A Step)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4.865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5.065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115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Yes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5V, 2A (1A Step)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4.93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4.843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5.026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Yes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" name="Google Shape;143;g3e00bab2c16_0_78"/>
          <p:cNvSpPr txBox="1"/>
          <p:nvPr/>
        </p:nvSpPr>
        <p:spPr>
          <a:xfrm>
            <a:off x="340425" y="2072113"/>
            <a:ext cx="374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Input Voltage Drop Analysis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4" name="Google Shape;144;g3e00bab2c16_0_78"/>
          <p:cNvSpPr txBox="1"/>
          <p:nvPr/>
        </p:nvSpPr>
        <p:spPr>
          <a:xfrm>
            <a:off x="400625" y="3804638"/>
            <a:ext cx="374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Hardware Rails- Active: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01345eeb0_0_7"/>
          <p:cNvSpPr txBox="1"/>
          <p:nvPr>
            <p:ph type="title"/>
          </p:nvPr>
        </p:nvSpPr>
        <p:spPr>
          <a:xfrm>
            <a:off x="1995675" y="2967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PCB Validation</a:t>
            </a:r>
            <a:endParaRPr/>
          </a:p>
        </p:txBody>
      </p:sp>
      <p:graphicFrame>
        <p:nvGraphicFramePr>
          <p:cNvPr id="151" name="Google Shape;151;g3e01345eeb0_0_7"/>
          <p:cNvGraphicFramePr/>
          <p:nvPr/>
        </p:nvGraphicFramePr>
        <p:xfrm>
          <a:off x="277400" y="272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{D1AEEF7C-476E-45B7-A03C-5C47391B52DE}</a:tableStyleId>
              </a:tblPr>
              <a:tblGrid>
                <a:gridCol w="1304925"/>
                <a:gridCol w="1371600"/>
                <a:gridCol w="952500"/>
                <a:gridCol w="952500"/>
                <a:gridCol w="952500"/>
              </a:tblGrid>
              <a:tr h="352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Test Category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Test Description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Expected Result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Measured Result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Status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Power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MCU supply voltage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3.3 V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3.28 V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Startup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MCU boots after power-on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Successful boot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Boots reliably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Clock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MCU clock operation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Stable frequency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Stable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UART TX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MCU transmits data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 visible on PC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Verified (echo/data)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UART RX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MCU receives data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Correct calculations received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Verified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Reset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NRST functionality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MCU resets properly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Verified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Stability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Continuous operation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No crashes/reset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Stable over test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2" name="Google Shape;152;g3e01345eeb0_0_7"/>
          <p:cNvGraphicFramePr/>
          <p:nvPr/>
        </p:nvGraphicFramePr>
        <p:xfrm>
          <a:off x="277400" y="159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{D1AEEF7C-476E-45B7-A03C-5C47391B52DE}</a:tableStyleId>
              </a:tblPr>
              <a:tblGrid>
                <a:gridCol w="1304925"/>
                <a:gridCol w="13716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352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Rail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Steady State (V)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Load Step (A)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Undershoot (mV)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Overshoot (mV)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Min Voltage (V)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Max Voltage (V)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Within Range?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3.3V, 0.5A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3.38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0.05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3.373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3.39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Yes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" name="Google Shape;153;g3e01345eeb0_0_7"/>
          <p:cNvSpPr txBox="1"/>
          <p:nvPr/>
        </p:nvSpPr>
        <p:spPr>
          <a:xfrm>
            <a:off x="160625" y="1315575"/>
            <a:ext cx="374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MCU Rail</a:t>
            </a:r>
            <a:r>
              <a:rPr lang="en-US" sz="1600">
                <a:solidFill>
                  <a:schemeClr val="dk1"/>
                </a:solidFill>
              </a:rPr>
              <a:t>- Active: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4" name="Google Shape;154;g3e01345eeb0_0_7"/>
          <p:cNvSpPr txBox="1"/>
          <p:nvPr/>
        </p:nvSpPr>
        <p:spPr>
          <a:xfrm>
            <a:off x="160625" y="2262813"/>
            <a:ext cx="374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MCU Validation: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01345eeb0_0_2"/>
          <p:cNvSpPr txBox="1"/>
          <p:nvPr>
            <p:ph type="title"/>
          </p:nvPr>
        </p:nvSpPr>
        <p:spPr>
          <a:xfrm>
            <a:off x="457200" y="9299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PCB Validation</a:t>
            </a:r>
            <a:endParaRPr/>
          </a:p>
        </p:txBody>
      </p:sp>
      <p:pic>
        <p:nvPicPr>
          <p:cNvPr id="161" name="Google Shape;161;g3e01345eeb0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650" y="2095827"/>
            <a:ext cx="8088677" cy="470032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e01345eeb0_0_2"/>
          <p:cNvSpPr txBox="1"/>
          <p:nvPr/>
        </p:nvSpPr>
        <p:spPr>
          <a:xfrm>
            <a:off x="457200" y="1818588"/>
            <a:ext cx="374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STM32 can be communicated with: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01345eeb0_0_29"/>
          <p:cNvSpPr txBox="1"/>
          <p:nvPr>
            <p:ph type="title"/>
          </p:nvPr>
        </p:nvSpPr>
        <p:spPr>
          <a:xfrm>
            <a:off x="2539500" y="81202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PCB Validation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(Example Photos)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g3e01345eeb0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00" y="975025"/>
            <a:ext cx="3695350" cy="277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e01345eeb0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8154" y="2174599"/>
            <a:ext cx="4252752" cy="3189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e01345eeb0_0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3700" y="4011275"/>
            <a:ext cx="3695350" cy="2771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00bab2c16_0_3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Radar/MCU Technical Merit</a:t>
            </a:r>
            <a:endParaRPr/>
          </a:p>
        </p:txBody>
      </p:sp>
      <p:sp>
        <p:nvSpPr>
          <p:cNvPr id="178" name="Google Shape;178;g3e00bab2c16_0_36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Fully configured radar to extract IQ samples within a 0.2m-0.5m range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Coded MCU to be synchronous with MATLAB over UART in calculating vital signs and generating cardiogram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Full integration with PCB to communicate over UART pins &amp; generate a clean output clean cardiogram for scan editing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00bab2c16_0_6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Radar/MCU Demo Functionality</a:t>
            </a:r>
            <a:endParaRPr/>
          </a:p>
        </p:txBody>
      </p:sp>
      <p:pic>
        <p:nvPicPr>
          <p:cNvPr id="185" name="Google Shape;185;g3e00bab2c16_0_66" title="IMG_832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324" y="2710703"/>
            <a:ext cx="2142374" cy="3808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e00bab2c16_0_66" title="24DifferentView.MOV-4/20/2026, 5:41 AM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82350" y="3207512"/>
            <a:ext cx="5004451" cy="2815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e00bab2c16_0_66"/>
          <p:cNvSpPr txBox="1"/>
          <p:nvPr/>
        </p:nvSpPr>
        <p:spPr>
          <a:xfrm>
            <a:off x="3909375" y="1852875"/>
            <a:ext cx="4550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Cardiac Gating Demo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88" name="Google Shape;188;g3e00bab2c16_0_66"/>
          <p:cNvSpPr txBox="1"/>
          <p:nvPr/>
        </p:nvSpPr>
        <p:spPr>
          <a:xfrm>
            <a:off x="457200" y="1606575"/>
            <a:ext cx="3219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Live Testing Gating Demo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00bab2c16_0_3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Radar/MCU Validation</a:t>
            </a:r>
            <a:endParaRPr/>
          </a:p>
        </p:txBody>
      </p:sp>
      <p:sp>
        <p:nvSpPr>
          <p:cNvPr id="195" name="Google Shape;195;g3e00bab2c16_0_30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Data capture card reading files 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IQ Data removes DC offset to center data for cleaner calculation of vital signs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Chest is within measured range of radar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Trigger count is </a:t>
            </a:r>
            <a:r>
              <a:rPr lang="en-US"/>
              <a:t>greater</a:t>
            </a:r>
            <a:r>
              <a:rPr lang="en-US"/>
              <a:t> than 3 cycles and does not falsely activate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00bab2c16_0_4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Scan Filter Technical Merit</a:t>
            </a:r>
            <a:endParaRPr/>
          </a:p>
        </p:txBody>
      </p:sp>
      <p:sp>
        <p:nvSpPr>
          <p:cNvPr id="202" name="Google Shape;202;g3e00bab2c16_0_48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Built a MRI gating pipeline for raw scan and waveform data.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Scored motion over time to find calmer acquisition windows.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Replaced corrupted scan lines across multiple scans to form a gated result.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Reconstructed images from k-space with FFT-based processing and exported PNG/DICOM output.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Created live and premade test cases to validate the full system</a:t>
            </a:r>
            <a:endParaRPr sz="22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7f3dc80d3_0_0"/>
          <p:cNvSpPr txBox="1"/>
          <p:nvPr>
            <p:ph type="title"/>
          </p:nvPr>
        </p:nvSpPr>
        <p:spPr>
          <a:xfrm>
            <a:off x="382650" y="937376"/>
            <a:ext cx="8229600" cy="50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80"/>
              <a:t>Scan Filter Demo Functionality</a:t>
            </a:r>
            <a:endParaRPr sz="2580"/>
          </a:p>
        </p:txBody>
      </p:sp>
      <p:sp>
        <p:nvSpPr>
          <p:cNvPr id="209" name="Google Shape;209;g3d7f3dc80d3_0_0"/>
          <p:cNvSpPr txBox="1"/>
          <p:nvPr/>
        </p:nvSpPr>
        <p:spPr>
          <a:xfrm>
            <a:off x="668650" y="1848925"/>
            <a:ext cx="6332700" cy="3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</a:rPr>
              <a:t>Cardiac Gating Demo</a:t>
            </a:r>
            <a:endParaRPr sz="3400">
              <a:solidFill>
                <a:schemeClr val="dk1"/>
              </a:solidFill>
            </a:endParaRPr>
          </a:p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</a:rPr>
              <a:t>Live Test Gating Demo</a:t>
            </a:r>
            <a:endParaRPr sz="3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7f85c2d7b_0_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d7f85c2d7b_0_4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g3d7f85c2d7b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50" y="898036"/>
            <a:ext cx="8301049" cy="5228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00bab2c16_0_4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 Interface Technical Merit</a:t>
            </a:r>
            <a:endParaRPr/>
          </a:p>
        </p:txBody>
      </p:sp>
      <p:sp>
        <p:nvSpPr>
          <p:cNvPr id="224" name="Google Shape;224;g3e00bab2c16_0_42"/>
          <p:cNvSpPr txBox="1"/>
          <p:nvPr/>
        </p:nvSpPr>
        <p:spPr>
          <a:xfrm>
            <a:off x="381000" y="1899897"/>
            <a:ext cx="82296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rgbClr val="000000"/>
                </a:solidFill>
              </a:rPr>
              <a:t>Engineering Challenges:</a:t>
            </a:r>
            <a:endParaRPr sz="3200" u="sng">
              <a:solidFill>
                <a:srgbClr val="000000"/>
              </a:solidFill>
            </a:endParaRPr>
          </a:p>
          <a:p>
            <a:pPr indent="-431800" lvl="0" marL="342900" rtl="0" algn="l"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/>
              <a:t>HIPAA Compliance</a:t>
            </a:r>
            <a:endParaRPr sz="3200"/>
          </a:p>
          <a:p>
            <a:pPr indent="-431800" lvl="0" marL="342900" rtl="0" algn="l"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</a:rPr>
              <a:t>Integrating Harin’s Scan Filter with the existing Desktop Application</a:t>
            </a:r>
            <a:endParaRPr sz="2800">
              <a:solidFill>
                <a:srgbClr val="000000"/>
              </a:solidFill>
            </a:endParaRPr>
          </a:p>
          <a:p>
            <a:pPr indent="-431800" lvl="0" marL="342900" rtl="0" algn="l"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/>
              <a:t>Building a desktop application, SQLite </a:t>
            </a:r>
            <a:r>
              <a:rPr lang="en-US" sz="3200"/>
              <a:t>database</a:t>
            </a:r>
            <a:r>
              <a:rPr lang="en-US" sz="3200"/>
              <a:t>, accessing via webpage</a:t>
            </a:r>
            <a:endParaRPr sz="3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g3d800b31e56_0_0" title="Screenshot 2025-11-19 0117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513" y="1925052"/>
            <a:ext cx="6808975" cy="30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d800b31e56_0_9" title="Screenshot 2025-11-18 161229.png"/>
          <p:cNvPicPr preferRelativeResize="0"/>
          <p:nvPr/>
        </p:nvPicPr>
        <p:blipFill rotWithShape="1">
          <a:blip r:embed="rId3">
            <a:alphaModFix/>
          </a:blip>
          <a:srcRect b="0" l="0" r="0" t="23960"/>
          <a:stretch/>
        </p:blipFill>
        <p:spPr>
          <a:xfrm>
            <a:off x="2215325" y="1172750"/>
            <a:ext cx="4713350" cy="4512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00bab2c16_0_8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 Interface Validation</a:t>
            </a:r>
            <a:endParaRPr/>
          </a:p>
        </p:txBody>
      </p:sp>
      <p:sp>
        <p:nvSpPr>
          <p:cNvPr id="243" name="Google Shape;243;g3e00bab2c16_0_84"/>
          <p:cNvSpPr txBox="1"/>
          <p:nvPr/>
        </p:nvSpPr>
        <p:spPr>
          <a:xfrm>
            <a:off x="381000" y="1899897"/>
            <a:ext cx="82296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/>
              <a:t>AES-256 encryption</a:t>
            </a:r>
            <a:endParaRPr sz="3200"/>
          </a:p>
          <a:p>
            <a:pPr indent="-431800" lvl="0" marL="342900" rtl="0" algn="l"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/>
              <a:t>16-bit password hashing</a:t>
            </a:r>
            <a:endParaRPr sz="3200"/>
          </a:p>
          <a:p>
            <a:pPr indent="-431800" lvl="0" marL="342900" rtl="0" algn="l"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/>
              <a:t>Forgot password functionality</a:t>
            </a:r>
            <a:endParaRPr sz="3200"/>
          </a:p>
          <a:p>
            <a:pPr indent="-431800" lvl="0" marL="342900" rtl="0" algn="l"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/>
              <a:t>Provider identity </a:t>
            </a:r>
            <a:endParaRPr sz="3200"/>
          </a:p>
          <a:p>
            <a:pPr indent="-431800" lvl="0" marL="342900" rtl="0" algn="l">
              <a:spcBef>
                <a:spcPts val="544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/>
              <a:t>SQLite database audit logging and storage</a:t>
            </a:r>
            <a:endParaRPr sz="3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Brian Gardner</dc:creator>
</cp:coreProperties>
</file>