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DXPDReUzOrMin5oiWSsQq+bwr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1309C3-7D5E-49C2-BD67-3A0F60D89C41}">
  <a:tblStyle styleId="{AB1309C3-7D5E-49C2-BD67-3A0F60D89C4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07D3824-44E0-44ED-A640-DDE7888D250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2" name="Google Shape;7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84" name="Google Shape;8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0" name="Google Shape;9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964f4985c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3" name="Google Shape;103;g3b964f4985c_1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964f4985c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b964f4985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964f4985c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6" name="Google Shape;116;g3b964f4985c_1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964f4985c_1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b964f4985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964f4985c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9" name="Google Shape;129;g3b964f4985c_1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964f4985c_1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b964f4985c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0851" y="1049177"/>
            <a:ext cx="823595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5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50: Remote </a:t>
            </a:r>
            <a:br>
              <a:rPr lang="en-US"/>
            </a:br>
            <a:r>
              <a:rPr lang="en-US"/>
              <a:t>Biometric System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42857"/>
              <a:buFont typeface="Arial"/>
              <a:buNone/>
            </a:pPr>
            <a:r>
              <a:rPr lang="en-US"/>
              <a:t>Bi-Weekly Update 1</a:t>
            </a:r>
            <a:br>
              <a:rPr lang="en-US"/>
            </a:br>
            <a:r>
              <a:rPr lang="en-US" sz="2800"/>
              <a:t>Simon Becker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2800"/>
              <a:t>Andrew-Joseph Nicolas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2800"/>
              <a:t>Lance Pagaduan</a:t>
            </a:r>
            <a:endParaRPr sz="28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42857"/>
              <a:buFont typeface="Arial"/>
              <a:buNone/>
            </a:pPr>
            <a:r>
              <a:rPr lang="en-US" sz="2800"/>
              <a:t>Harin Sankar</a:t>
            </a:r>
            <a:br>
              <a:rPr lang="en-US" sz="2455"/>
            </a:br>
            <a:r>
              <a:rPr lang="en-US" sz="2455"/>
              <a:t>Sponsor: Dr. Steven Wright</a:t>
            </a:r>
            <a:br>
              <a:rPr lang="en-US" sz="2455"/>
            </a:br>
            <a:r>
              <a:rPr lang="en-US" sz="2455"/>
              <a:t>TA: Hailey Ward</a:t>
            </a:r>
            <a:br>
              <a:rPr lang="en-US" sz="2455"/>
            </a:br>
            <a:endParaRPr sz="2455"/>
          </a:p>
        </p:txBody>
      </p:sp>
      <p:sp>
        <p:nvSpPr>
          <p:cNvPr id="59" name="Google Shape;59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Contactless Cardiac Gating</a:t>
            </a:r>
            <a:endParaRPr/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0" y="2097450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Extensive and uncomfortable prep can be necessary</a:t>
            </a:r>
            <a:endParaRPr baseline="30000" sz="2600"/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MRI Patient throughput can be improved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32% of patients think they wait too long for </a:t>
            </a:r>
            <a:r>
              <a:rPr lang="en-US" sz="2600"/>
              <a:t>MRIs</a:t>
            </a:r>
            <a:r>
              <a:rPr baseline="30000" lang="en-US" sz="2600"/>
              <a:t>1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2600"/>
          </a:p>
        </p:txBody>
      </p:sp>
      <p:sp>
        <p:nvSpPr>
          <p:cNvPr id="67" name="Google Shape;67;p2"/>
          <p:cNvSpPr txBox="1"/>
          <p:nvPr/>
        </p:nvSpPr>
        <p:spPr>
          <a:xfrm>
            <a:off x="96600" y="6303900"/>
            <a:ext cx="895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Dostál, M., Jurasová, K., Keřkovský, M. </a:t>
            </a:r>
            <a:r>
              <a:rPr i="1" lang="en-US" sz="1200">
                <a:solidFill>
                  <a:schemeClr val="dk1"/>
                </a:solidFill>
              </a:rPr>
              <a:t>et al.</a:t>
            </a:r>
            <a:r>
              <a:rPr lang="en-US" sz="1200">
                <a:solidFill>
                  <a:schemeClr val="dk1"/>
                </a:solidFill>
              </a:rPr>
              <a:t> What factors affect a patient’s subjective perception of MRI examination. </a:t>
            </a:r>
            <a:r>
              <a:rPr i="1" lang="en-US" sz="1200">
                <a:solidFill>
                  <a:schemeClr val="dk1"/>
                </a:solidFill>
              </a:rPr>
              <a:t>Sci Rep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b="1" lang="en-US" sz="1200">
                <a:solidFill>
                  <a:schemeClr val="dk1"/>
                </a:solidFill>
              </a:rPr>
              <a:t>14</a:t>
            </a:r>
            <a:r>
              <a:rPr lang="en-US" sz="1200">
                <a:solidFill>
                  <a:schemeClr val="dk1"/>
                </a:solidFill>
              </a:rPr>
              <a:t>, 22731 (2024). https://doi.org/10.1038/s41598-024-74231-9</a:t>
            </a:r>
            <a:endParaRPr sz="1200"/>
          </a:p>
        </p:txBody>
      </p:sp>
      <p:pic>
        <p:nvPicPr>
          <p:cNvPr id="68" name="Google Shape;6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7650" y="2161887"/>
            <a:ext cx="4699750" cy="28174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 txBox="1"/>
          <p:nvPr/>
        </p:nvSpPr>
        <p:spPr>
          <a:xfrm>
            <a:off x="4347625" y="4904075"/>
            <a:ext cx="469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</a:rPr>
              <a:t>Vasireddy, Rakesh &amp; Roth, Corinne &amp; Mathis, Johannes &amp; Goette, Josef &amp; Jacomet, Marcel &amp; Vogt, Andreas. (2018). K-band Doppler radar for contact-less overnight sleep marker assessment: a pilot validation study. Journal of Clinical Monitoring and Computing. 32. 10.1007/s10877-017-0060-9. </a:t>
            </a:r>
            <a:endParaRPr sz="8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Contactless Cardiac Gating</a:t>
            </a:r>
            <a:endParaRPr/>
          </a:p>
        </p:txBody>
      </p:sp>
      <p:pic>
        <p:nvPicPr>
          <p:cNvPr id="75" name="Google Shape;75;p3" title="Block Diagram Present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700" y="1673300"/>
            <a:ext cx="8316600" cy="4804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Major Project Changes for 404</a:t>
            </a:r>
            <a:endParaRPr/>
          </a:p>
        </p:txBody>
      </p:sp>
      <p:sp>
        <p:nvSpPr>
          <p:cNvPr id="81" name="Google Shape;81;p4"/>
          <p:cNvSpPr txBox="1"/>
          <p:nvPr>
            <p:ph idx="1" type="body"/>
          </p:nvPr>
        </p:nvSpPr>
        <p:spPr>
          <a:xfrm>
            <a:off x="214950" y="2367800"/>
            <a:ext cx="87141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The radar itself will need to be configured. This </a:t>
            </a:r>
            <a:r>
              <a:rPr lang="en-US" sz="2600"/>
              <a:t>will be done by Harin and Simon.</a:t>
            </a:r>
            <a:endParaRPr sz="2600"/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PCB and front-end hardware updated.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</a:t>
            </a:r>
            <a:endParaRPr/>
          </a:p>
        </p:txBody>
      </p:sp>
      <p:pic>
        <p:nvPicPr>
          <p:cNvPr id="87" name="Google Shape;8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50" y="2826294"/>
            <a:ext cx="9074349" cy="1036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PCB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Andrew</a:t>
            </a:r>
            <a:endParaRPr sz="2980"/>
          </a:p>
        </p:txBody>
      </p:sp>
      <p:graphicFrame>
        <p:nvGraphicFramePr>
          <p:cNvPr id="93" name="Google Shape;93;p6"/>
          <p:cNvGraphicFramePr/>
          <p:nvPr/>
        </p:nvGraphicFramePr>
        <p:xfrm>
          <a:off x="685800" y="2507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{AB1309C3-7D5E-49C2-BD67-3A0F60D89C41}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15 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Board redesign fully completed.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New hardware added to front-end.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Validation of integration between all potential hardware.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Validate </a:t>
                      </a:r>
                      <a:r>
                        <a:rPr lang="en-US" sz="1800"/>
                        <a:t>layout and order board.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PCB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Andrew</a:t>
            </a:r>
            <a:endParaRPr sz="2980"/>
          </a:p>
        </p:txBody>
      </p:sp>
      <p:sp>
        <p:nvSpPr>
          <p:cNvPr id="99" name="Google Shape;99;p7"/>
          <p:cNvSpPr txBox="1"/>
          <p:nvPr/>
        </p:nvSpPr>
        <p:spPr>
          <a:xfrm>
            <a:off x="5663848" y="2173347"/>
            <a:ext cx="275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Redesign ready for new hardware &amp; MCU I/O.</a:t>
            </a:r>
            <a:endParaRPr/>
          </a:p>
        </p:txBody>
      </p:sp>
      <p:pic>
        <p:nvPicPr>
          <p:cNvPr id="100" name="Google Shape;10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25" y="2173350"/>
            <a:ext cx="5359049" cy="338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964f4985c_1_1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MCU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Lance Pagaduan</a:t>
            </a:r>
            <a:endParaRPr sz="2980"/>
          </a:p>
        </p:txBody>
      </p:sp>
      <p:graphicFrame>
        <p:nvGraphicFramePr>
          <p:cNvPr id="106" name="Google Shape;106;g3b964f4985c_1_18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{AB1309C3-7D5E-49C2-BD67-3A0F60D89C41}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             </a:t>
                      </a:r>
                      <a:r>
                        <a:rPr lang="en-US" sz="1800" u="none" cap="none" strike="noStrike"/>
                        <a:t>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12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Collaborated with the PCB/Radar subsystem to verify all MCU parts are present 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Begin integration of MCU onto the PCB 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Replace code block that houses sample data with live radar input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964f4985c_1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MCU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Lance Pagaduan</a:t>
            </a:r>
            <a:endParaRPr sz="2980"/>
          </a:p>
        </p:txBody>
      </p:sp>
      <p:pic>
        <p:nvPicPr>
          <p:cNvPr id="112" name="Google Shape;112;g3b964f4985c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275"/>
            <a:ext cx="4092600" cy="433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b964f4985c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4200" y="1986900"/>
            <a:ext cx="4092600" cy="4369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964f4985c_1_2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Scan Filter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Harin Sankar</a:t>
            </a:r>
            <a:endParaRPr sz="2980"/>
          </a:p>
        </p:txBody>
      </p:sp>
      <p:graphicFrame>
        <p:nvGraphicFramePr>
          <p:cNvPr id="119" name="Google Shape;119;g3b964f4985c_1_24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{AB1309C3-7D5E-49C2-BD67-3A0F60D89C41}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              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9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365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Char char="●"/>
                      </a:pPr>
                      <a:r>
                        <a:rPr b="1" lang="en-US" sz="1700">
                          <a:solidFill>
                            <a:schemeClr val="dk1"/>
                          </a:solidFill>
                        </a:rPr>
                        <a:t>Fixed cardiac phase binning edge cases</a:t>
                      </a: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, correcting misassigned frames near bin boundaries.</a:t>
                      </a:r>
                      <a:br>
                        <a:rPr lang="en-US" sz="1700">
                          <a:solidFill>
                            <a:schemeClr val="dk1"/>
                          </a:solidFill>
                        </a:rPr>
                      </a:b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-3365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Char char="●"/>
                      </a:pPr>
                      <a:r>
                        <a:rPr b="1" lang="en-US" sz="1700">
                          <a:solidFill>
                            <a:schemeClr val="dk1"/>
                          </a:solidFill>
                        </a:rPr>
                        <a:t>Tested arrhythmic cardiac cases</a:t>
                      </a: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, confirming binning and synchronization under irregular heartbeats.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b="1" lang="en-US" sz="1800"/>
                        <a:t>Confirm MRI vendor system</a:t>
                      </a:r>
                      <a:r>
                        <a:rPr lang="en-US" sz="1800"/>
                        <a:t> and sequence for testing</a:t>
                      </a:r>
                      <a:br>
                        <a:rPr lang="en-US" sz="1800"/>
                      </a:b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b="1" lang="en-US" sz="1800"/>
                        <a:t>Determine echo data format </a:t>
                      </a:r>
                      <a:r>
                        <a:rPr lang="en-US" sz="1800"/>
                        <a:t>(vendor dependent)</a:t>
                      </a:r>
                      <a:r>
                        <a:rPr lang="en-US" sz="1800"/>
                        <a:t> for subsystem input handling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964f4985c_1_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Scan Filter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Harin Sankar</a:t>
            </a:r>
            <a:endParaRPr sz="2980"/>
          </a:p>
        </p:txBody>
      </p:sp>
      <p:sp>
        <p:nvSpPr>
          <p:cNvPr id="125" name="Google Shape;125;g3b964f4985c_1_6"/>
          <p:cNvSpPr txBox="1"/>
          <p:nvPr/>
        </p:nvSpPr>
        <p:spPr>
          <a:xfrm>
            <a:off x="4852384" y="2324917"/>
            <a:ext cx="275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Arrhythmic Test Cases</a:t>
            </a:r>
            <a:endParaRPr/>
          </a:p>
        </p:txBody>
      </p:sp>
      <p:pic>
        <p:nvPicPr>
          <p:cNvPr id="126" name="Google Shape;126;g3b964f4985c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976075"/>
            <a:ext cx="3316575" cy="47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964f4985c_1_3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User Interface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Simon Becker</a:t>
            </a:r>
            <a:endParaRPr sz="2980"/>
          </a:p>
        </p:txBody>
      </p:sp>
      <p:graphicFrame>
        <p:nvGraphicFramePr>
          <p:cNvPr id="132" name="Google Shape;132;g3b964f4985c_1_30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{AB1309C3-7D5E-49C2-BD67-3A0F60D89C41}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5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Determined admin role restrictions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Apply admin role restrictions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Integrate stored metadata into DICOM file format architecture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964f4985c_1_1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User Interface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Simon Becker</a:t>
            </a:r>
            <a:endParaRPr sz="2980"/>
          </a:p>
        </p:txBody>
      </p:sp>
      <p:pic>
        <p:nvPicPr>
          <p:cNvPr id="138" name="Google Shape;138;g3b964f4985c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24" y="2185475"/>
            <a:ext cx="5072275" cy="412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b964f4985c_1_12" title="ScreenRecord1-ezgif.com-speed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125" y="2123762"/>
            <a:ext cx="3490276" cy="424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521951" y="1091827"/>
            <a:ext cx="82359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Parts Ordering Status</a:t>
            </a:r>
            <a:endParaRPr/>
          </a:p>
        </p:txBody>
      </p:sp>
      <p:graphicFrame>
        <p:nvGraphicFramePr>
          <p:cNvPr id="145" name="Google Shape;145;p8"/>
          <p:cNvGraphicFramePr/>
          <p:nvPr/>
        </p:nvGraphicFramePr>
        <p:xfrm>
          <a:off x="926750" y="19878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{D07D3824-44E0-44ED-A640-DDE7888D2509}</a:tableStyleId>
              </a:tblPr>
              <a:tblGrid>
                <a:gridCol w="3645250"/>
                <a:gridCol w="3645250"/>
              </a:tblGrid>
              <a:tr h="43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Part</a:t>
                      </a:r>
                      <a:endParaRPr b="1" sz="18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Status</a:t>
                      </a:r>
                      <a:endParaRPr b="1" sz="1800"/>
                    </a:p>
                  </a:txBody>
                  <a:tcPr marT="91425" marB="91425" marR="91425" marL="91425">
                    <a:noFill/>
                  </a:tcPr>
                </a:tc>
              </a:tr>
              <a:tr h="43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Radar: IWR6843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 Locker</a:t>
                      </a:r>
                      <a:endParaRPr sz="1800"/>
                    </a:p>
                  </a:txBody>
                  <a:tcPr marT="91425" marB="91425" marR="91425" marL="91425">
                    <a:noFill/>
                  </a:tcPr>
                </a:tc>
              </a:tr>
              <a:tr h="69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Data Capture Board: DCA1000EVM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 Locker</a:t>
                      </a:r>
                      <a:endParaRPr sz="1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PCB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Pending Order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MCU: STM32F407VGT6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Pending PCB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type="title"/>
          </p:nvPr>
        </p:nvSpPr>
        <p:spPr>
          <a:xfrm>
            <a:off x="450851" y="1049177"/>
            <a:ext cx="82359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&amp; Plan</a:t>
            </a:r>
            <a:endParaRPr/>
          </a:p>
        </p:txBody>
      </p:sp>
      <p:pic>
        <p:nvPicPr>
          <p:cNvPr id="151" name="Google Shape;151;p9"/>
          <p:cNvPicPr preferRelativeResize="0"/>
          <p:nvPr/>
        </p:nvPicPr>
        <p:blipFill rotWithShape="1">
          <a:blip r:embed="rId3">
            <a:alphaModFix/>
          </a:blip>
          <a:srcRect b="0" l="0" r="626" t="0"/>
          <a:stretch/>
        </p:blipFill>
        <p:spPr>
          <a:xfrm>
            <a:off x="287225" y="1852875"/>
            <a:ext cx="8569549" cy="47003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>
            <p:ph idx="4294967295" type="title"/>
          </p:nvPr>
        </p:nvSpPr>
        <p:spPr>
          <a:xfrm>
            <a:off x="457200" y="1608138"/>
            <a:ext cx="8229600" cy="4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9</vt:lpwstr>
  </property>
</Properties>
</file>