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WxrRWoR4vMKuYTNMDrRrXT51m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B8FFFD-3319-43B0-BD13-824953BA950C}">
  <a:tblStyle styleId="{7DB8FFFD-3319-43B0-BD13-824953BA950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2856ab61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g3d2856ab61f_0_1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2856ab61f_0_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2856ab61f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d2856ab61f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2856ab61f_2_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2856ab61f_2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d2856ab61f_2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2856ab61f_0_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2856ab61f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2856ab61f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2856ab61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09" name="Google Shape;109;g3d2856ab61f_0_1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2856ab61f_3_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2856ab61f_3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d2856ab61f_3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2856ab6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4" name="Google Shape;144;g3d2856ab61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2856ab61f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2856ab6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2856ab61f_2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d2856ab61f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2856ab61f_2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d2856ab61f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2856ab61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4" name="Google Shape;174;g3d2856ab61f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2856ab61f_4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d2856ab61f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2856ab61f_4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d2856ab61f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2856ab61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8" name="Google Shape;198;g3d2856ab61f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2856ab61f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d2856ab61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31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50: Remote </a:t>
            </a:r>
            <a:br>
              <a:rPr lang="en-US"/>
            </a:br>
            <a:r>
              <a:rPr lang="en-US"/>
              <a:t>Biometric System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/>
              <a:t>Bi-Weekly Update 5</a:t>
            </a:r>
            <a:br>
              <a:rPr lang="en-US"/>
            </a:br>
            <a:r>
              <a:rPr lang="en-US" sz="2800"/>
              <a:t>Simon Becker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 sz="2800"/>
              <a:t>Andrew-Joseph Nicolas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 sz="2800"/>
              <a:t>Lance Pagaduan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 sz="2800"/>
              <a:t>Harin Sankar</a:t>
            </a:r>
            <a:br>
              <a:rPr lang="en-US" sz="2455"/>
            </a:br>
            <a:r>
              <a:rPr lang="en-US" sz="2455"/>
              <a:t>Sponsor: Dr. Steven Wright</a:t>
            </a:r>
            <a:br>
              <a:rPr lang="en-US" sz="2455"/>
            </a:br>
            <a:r>
              <a:rPr lang="en-US" sz="2455"/>
              <a:t>TA: Hailey Ward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2856ab61f_0_19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sp>
        <p:nvSpPr>
          <p:cNvPr id="66" name="Google Shape;66;g3d2856ab61f_0_191"/>
          <p:cNvSpPr txBox="1"/>
          <p:nvPr>
            <p:ph idx="1" type="body"/>
          </p:nvPr>
        </p:nvSpPr>
        <p:spPr>
          <a:xfrm>
            <a:off x="0" y="2097450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Extensive and uncomfortable prep can be necessary</a:t>
            </a:r>
            <a:endParaRPr baseline="30000" sz="2600"/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MRI Patient throughput can be improved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32% of patients think they wait too long for MRIs</a:t>
            </a:r>
            <a:r>
              <a:rPr baseline="30000" lang="en-US" sz="2600"/>
              <a:t>1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600"/>
          </a:p>
        </p:txBody>
      </p:sp>
      <p:sp>
        <p:nvSpPr>
          <p:cNvPr id="67" name="Google Shape;67;g3d2856ab61f_0_191"/>
          <p:cNvSpPr txBox="1"/>
          <p:nvPr/>
        </p:nvSpPr>
        <p:spPr>
          <a:xfrm>
            <a:off x="96600" y="6303900"/>
            <a:ext cx="895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Dostál, M., Jurasová, K., Keřkovský, M. </a:t>
            </a:r>
            <a:r>
              <a:rPr i="1" lang="en-US" sz="1200">
                <a:solidFill>
                  <a:schemeClr val="dk1"/>
                </a:solidFill>
              </a:rPr>
              <a:t>et al.</a:t>
            </a:r>
            <a:r>
              <a:rPr lang="en-US" sz="1200">
                <a:solidFill>
                  <a:schemeClr val="dk1"/>
                </a:solidFill>
              </a:rPr>
              <a:t> What factors affect a patient’s subjective perception of MRI examination. </a:t>
            </a:r>
            <a:r>
              <a:rPr i="1" lang="en-US" sz="1200">
                <a:solidFill>
                  <a:schemeClr val="dk1"/>
                </a:solidFill>
              </a:rPr>
              <a:t>Sci Rep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b="1" lang="en-US" sz="1200">
                <a:solidFill>
                  <a:schemeClr val="dk1"/>
                </a:solidFill>
              </a:rPr>
              <a:t>14</a:t>
            </a:r>
            <a:r>
              <a:rPr lang="en-US" sz="1200">
                <a:solidFill>
                  <a:schemeClr val="dk1"/>
                </a:solidFill>
              </a:rPr>
              <a:t>, 22731 (2024). https://doi.org/10.1038/s41598-024-74231-9</a:t>
            </a:r>
            <a:endParaRPr sz="1200"/>
          </a:p>
        </p:txBody>
      </p:sp>
      <p:pic>
        <p:nvPicPr>
          <p:cNvPr id="68" name="Google Shape;68;g3d2856ab61f_0_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650" y="2161887"/>
            <a:ext cx="4699750" cy="28174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d2856ab61f_0_191"/>
          <p:cNvSpPr txBox="1"/>
          <p:nvPr/>
        </p:nvSpPr>
        <p:spPr>
          <a:xfrm>
            <a:off x="4347625" y="4904075"/>
            <a:ext cx="469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</a:rPr>
              <a:t>Vasireddy, Rakesh &amp; Roth, Corinne &amp; Mathis, Johannes &amp; Goette, Josef &amp; Jacomet, Marcel &amp; Vogt, Andreas. (2018). K-band Doppler radar for contact-less overnight sleep marker assessment: a pilot validation study. Journal of Clinical Monitoring and Computing. 32. 10.1007/s10877-017-0060-9. </a:t>
            </a:r>
            <a:endParaRPr sz="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2856ab61f_0_70"/>
          <p:cNvSpPr/>
          <p:nvPr/>
        </p:nvSpPr>
        <p:spPr>
          <a:xfrm>
            <a:off x="1698975" y="3868200"/>
            <a:ext cx="3008400" cy="298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d2856ab61f_0_7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Integrated System Diagram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en-US" sz="1750"/>
              <a:t>Hardware</a:t>
            </a:r>
            <a:endParaRPr/>
          </a:p>
        </p:txBody>
      </p:sp>
      <p:pic>
        <p:nvPicPr>
          <p:cNvPr id="77" name="Google Shape;77;g3d2856ab61f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588" y="5153450"/>
            <a:ext cx="1051025" cy="124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d2856ab61f_0_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72259">
            <a:off x="1767026" y="3699405"/>
            <a:ext cx="2969848" cy="1670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d2856ab61f_0_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8964" y="1561675"/>
            <a:ext cx="1871801" cy="230652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0" name="Google Shape;80;g3d2856ab61f_0_70"/>
          <p:cNvSpPr/>
          <p:nvPr/>
        </p:nvSpPr>
        <p:spPr>
          <a:xfrm>
            <a:off x="3570775" y="2505038"/>
            <a:ext cx="1770300" cy="71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Patient MRI Data</a:t>
            </a:r>
            <a:endParaRPr/>
          </a:p>
        </p:txBody>
      </p:sp>
      <p:sp>
        <p:nvSpPr>
          <p:cNvPr id="81" name="Google Shape;81;g3d2856ab61f_0_70"/>
          <p:cNvSpPr/>
          <p:nvPr/>
        </p:nvSpPr>
        <p:spPr>
          <a:xfrm>
            <a:off x="4800325" y="3740300"/>
            <a:ext cx="1568700" cy="12690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Cardiac Data</a:t>
            </a:r>
            <a:endParaRPr/>
          </a:p>
        </p:txBody>
      </p:sp>
      <p:pic>
        <p:nvPicPr>
          <p:cNvPr id="82" name="Google Shape;82;g3d2856ab61f_0_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5725" y="5009313"/>
            <a:ext cx="2727426" cy="1534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g3d2856ab61f_0_70"/>
          <p:cNvGrpSpPr/>
          <p:nvPr/>
        </p:nvGrpSpPr>
        <p:grpSpPr>
          <a:xfrm>
            <a:off x="5434462" y="2389964"/>
            <a:ext cx="1710503" cy="1733775"/>
            <a:chOff x="6022250" y="1945027"/>
            <a:chExt cx="2044100" cy="2071911"/>
          </a:xfrm>
        </p:grpSpPr>
        <p:pic>
          <p:nvPicPr>
            <p:cNvPr id="84" name="Google Shape;84;g3d2856ab61f_0_7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22250" y="1945027"/>
              <a:ext cx="2044100" cy="2071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g3d2856ab61f_0_70"/>
            <p:cNvSpPr/>
            <p:nvPr/>
          </p:nvSpPr>
          <p:spPr>
            <a:xfrm>
              <a:off x="6156400" y="2075475"/>
              <a:ext cx="1196400" cy="96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76500" lIns="76500" spcFirstLastPara="1" rIns="76500" wrap="square" tIns="7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1"/>
            </a:p>
          </p:txBody>
        </p:sp>
      </p:grpSp>
      <p:sp>
        <p:nvSpPr>
          <p:cNvPr id="86" name="Google Shape;86;g3d2856ab61f_0_70"/>
          <p:cNvSpPr txBox="1"/>
          <p:nvPr/>
        </p:nvSpPr>
        <p:spPr>
          <a:xfrm>
            <a:off x="5503288" y="2596238"/>
            <a:ext cx="19509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Software</a:t>
            </a:r>
            <a:endParaRPr sz="1900">
              <a:solidFill>
                <a:schemeClr val="dk1"/>
              </a:solidFill>
            </a:endParaRPr>
          </a:p>
        </p:txBody>
      </p:sp>
      <p:cxnSp>
        <p:nvCxnSpPr>
          <p:cNvPr id="87" name="Google Shape;87;g3d2856ab61f_0_70"/>
          <p:cNvCxnSpPr/>
          <p:nvPr/>
        </p:nvCxnSpPr>
        <p:spPr>
          <a:xfrm>
            <a:off x="1308250" y="4131325"/>
            <a:ext cx="1159200" cy="30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g3d2856ab61f_0_70"/>
          <p:cNvCxnSpPr/>
          <p:nvPr/>
        </p:nvCxnSpPr>
        <p:spPr>
          <a:xfrm flipH="1" rot="10800000">
            <a:off x="734450" y="5715075"/>
            <a:ext cx="14115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g3d2856ab61f_0_70"/>
          <p:cNvSpPr txBox="1"/>
          <p:nvPr/>
        </p:nvSpPr>
        <p:spPr>
          <a:xfrm>
            <a:off x="686375" y="3868200"/>
            <a:ext cx="7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Radar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g3d2856ab61f_0_70"/>
          <p:cNvSpPr txBox="1"/>
          <p:nvPr/>
        </p:nvSpPr>
        <p:spPr>
          <a:xfrm>
            <a:off x="219075" y="5520675"/>
            <a:ext cx="7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PCB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1" name="Google Shape;91;g3d2856ab61f_0_70"/>
          <p:cNvCxnSpPr/>
          <p:nvPr/>
        </p:nvCxnSpPr>
        <p:spPr>
          <a:xfrm>
            <a:off x="4372325" y="5680575"/>
            <a:ext cx="1193400" cy="19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g3d2856ab61f_0_70"/>
          <p:cNvSpPr txBox="1"/>
          <p:nvPr/>
        </p:nvSpPr>
        <p:spPr>
          <a:xfrm>
            <a:off x="5452875" y="5715075"/>
            <a:ext cx="141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Data Capture Board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2856ab61f_2_3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Integrated System Diagram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en-US" sz="1750"/>
              <a:t>Hardware</a:t>
            </a:r>
            <a:endParaRPr/>
          </a:p>
        </p:txBody>
      </p:sp>
      <p:pic>
        <p:nvPicPr>
          <p:cNvPr id="99" name="Google Shape;99;g3d2856ab61f_2_32" title="IMG_813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875" y="2310187"/>
            <a:ext cx="5308252" cy="3981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2856ab61f_0_6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Integrated System Diagram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/>
              <a:t>Software</a:t>
            </a:r>
            <a:endParaRPr sz="1750"/>
          </a:p>
        </p:txBody>
      </p:sp>
      <p:pic>
        <p:nvPicPr>
          <p:cNvPr id="106" name="Google Shape;106;g3d2856ab61f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450" y="1852877"/>
            <a:ext cx="5123469" cy="47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2856ab61f_0_13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112" name="Google Shape;112;g3d2856ab61f_0_137"/>
          <p:cNvGraphicFramePr/>
          <p:nvPr/>
        </p:nvGraphicFramePr>
        <p:xfrm>
          <a:off x="286334" y="2735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{7DB8FFFD-3319-43B0-BD13-824953BA950C}</a:tableStyleId>
              </a:tblPr>
              <a:tblGrid>
                <a:gridCol w="840025"/>
                <a:gridCol w="840025"/>
                <a:gridCol w="840025"/>
                <a:gridCol w="840025"/>
                <a:gridCol w="840025"/>
                <a:gridCol w="840025"/>
                <a:gridCol w="840025"/>
                <a:gridCol w="840025"/>
                <a:gridCol w="840025"/>
                <a:gridCol w="840025"/>
              </a:tblGrid>
              <a:tr h="138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Subsystem Designs and Testing</a:t>
                      </a:r>
                      <a:endParaRPr sz="10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(</a:t>
                      </a:r>
                      <a:r>
                        <a:rPr lang="en-US" sz="1000"/>
                        <a:t>completed 2/2</a:t>
                      </a:r>
                      <a:r>
                        <a:rPr lang="en-US" sz="1000" u="none" cap="none" strike="noStrike"/>
                        <a:t>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PCB Ordered</a:t>
                      </a:r>
                      <a:r>
                        <a:rPr lang="en-US" sz="1000" u="none" cap="none" strike="noStrike"/>
                        <a:t> (completed </a:t>
                      </a:r>
                      <a:r>
                        <a:rPr lang="en-US" sz="1000"/>
                        <a:t>2/4</a:t>
                      </a:r>
                      <a:r>
                        <a:rPr lang="en-US" sz="1000" u="none" cap="none" strike="noStrike"/>
                        <a:t>)</a:t>
                      </a:r>
                      <a:endParaRPr sz="10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MCU and PCB Functionality Tests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(2/26)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/>
                        <a:t>Radar &amp; Data Capture Card Integrated</a:t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/>
                        <a:t>(03/04)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MCU and PCB Deployable </a:t>
                      </a:r>
                      <a:br>
                        <a:rPr lang="en-US" sz="1000">
                          <a:solidFill>
                            <a:schemeClr val="dk1"/>
                          </a:solidFill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(to complete by 3/16)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Integration of Scan Filter and MRI</a:t>
                      </a:r>
                      <a:br>
                        <a:rPr lang="en-US" sz="1000">
                          <a:solidFill>
                            <a:schemeClr val="dk1"/>
                          </a:solidFill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(to complete by 3/16)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Integration of Scan Filter and Desktop Application</a:t>
                      </a:r>
                      <a:br>
                        <a:rPr lang="en-US" sz="1000">
                          <a:solidFill>
                            <a:schemeClr val="dk1"/>
                          </a:solidFill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(to complete by 3/16)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System Testing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(to complete by </a:t>
                      </a:r>
                      <a:r>
                        <a:rPr lang="en-US" sz="1000"/>
                        <a:t>3/30</a:t>
                      </a:r>
                      <a:r>
                        <a:rPr lang="en-US" sz="1000" u="none" cap="none" strike="noStrike"/>
                        <a:t>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Validation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(to complete by </a:t>
                      </a:r>
                      <a:r>
                        <a:rPr lang="en-US" sz="1000"/>
                        <a:t>4/6</a:t>
                      </a:r>
                      <a:r>
                        <a:rPr lang="en-US" sz="1000" u="none" cap="none" strike="noStrike"/>
                        <a:t>)</a:t>
                      </a:r>
                      <a:endParaRPr sz="10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Demo and Report 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(to complete by 4/19)</a:t>
                      </a:r>
                      <a:endParaRPr sz="10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PCB</a:t>
            </a:r>
            <a:br>
              <a:rPr lang="en-US"/>
            </a:br>
            <a:r>
              <a:rPr lang="en-US" sz="1600"/>
              <a:t>Andrew-Joseph Nicolas</a:t>
            </a:r>
            <a:endParaRPr/>
          </a:p>
        </p:txBody>
      </p:sp>
      <p:graphicFrame>
        <p:nvGraphicFramePr>
          <p:cNvPr id="118" name="Google Shape;118;p7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{7DB8FFFD-3319-43B0-BD13-824953BA950C}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20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PCB design fully functional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Validation between hardware being </a:t>
                      </a:r>
                      <a:r>
                        <a:rPr lang="en-US" sz="1800"/>
                        <a:t>procedurally</a:t>
                      </a:r>
                      <a:r>
                        <a:rPr lang="en-US" sz="1800"/>
                        <a:t> completed</a:t>
                      </a:r>
                      <a:endParaRPr sz="180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Finish load testing 2 of the DC rails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Confirm communication over UART with MCU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Confirm supporting hardware powers on from PCB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457200" y="1049338"/>
            <a:ext cx="8229600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PCB</a:t>
            </a:r>
            <a:br>
              <a:rPr lang="en-US"/>
            </a:br>
            <a:r>
              <a:rPr lang="en-US" sz="1600"/>
              <a:t>Andrew-Joseph Nicolas</a:t>
            </a:r>
            <a:endParaRPr/>
          </a:p>
        </p:txBody>
      </p:sp>
      <p:pic>
        <p:nvPicPr>
          <p:cNvPr id="124" name="Google Shape;12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475" y="2243824"/>
            <a:ext cx="4323701" cy="2777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3701" y="2261963"/>
            <a:ext cx="4267198" cy="2740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8"/>
          <p:cNvPicPr preferRelativeResize="0"/>
          <p:nvPr/>
        </p:nvPicPr>
        <p:blipFill rotWithShape="1">
          <a:blip r:embed="rId5">
            <a:alphaModFix/>
          </a:blip>
          <a:srcRect b="0" l="0" r="71240" t="0"/>
          <a:stretch/>
        </p:blipFill>
        <p:spPr>
          <a:xfrm>
            <a:off x="5674325" y="5272925"/>
            <a:ext cx="11879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8"/>
          <p:cNvPicPr preferRelativeResize="0"/>
          <p:nvPr/>
        </p:nvPicPr>
        <p:blipFill rotWithShape="1">
          <a:blip r:embed="rId6">
            <a:alphaModFix/>
          </a:blip>
          <a:srcRect b="0" l="0" r="78724" t="0"/>
          <a:stretch/>
        </p:blipFill>
        <p:spPr>
          <a:xfrm>
            <a:off x="1396975" y="5183900"/>
            <a:ext cx="1451949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8"/>
          <p:cNvPicPr preferRelativeResize="0"/>
          <p:nvPr/>
        </p:nvPicPr>
        <p:blipFill rotWithShape="1">
          <a:blip r:embed="rId5">
            <a:alphaModFix/>
          </a:blip>
          <a:srcRect b="0" l="66581" r="4659" t="0"/>
          <a:stretch/>
        </p:blipFill>
        <p:spPr>
          <a:xfrm>
            <a:off x="6725750" y="5272925"/>
            <a:ext cx="118795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 txBox="1"/>
          <p:nvPr/>
        </p:nvSpPr>
        <p:spPr>
          <a:xfrm>
            <a:off x="205475" y="1852625"/>
            <a:ext cx="280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5V @ 3A Rail Simulation (DCA)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5163175" y="1852625"/>
            <a:ext cx="280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5V @ 2A Rail Simulation (Radar)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2856ab61f_3_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MCU Communication Validation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/>
              <a:t>Andrew-Joseph Nicolas</a:t>
            </a:r>
            <a:endParaRPr sz="1750"/>
          </a:p>
        </p:txBody>
      </p:sp>
      <p:pic>
        <p:nvPicPr>
          <p:cNvPr id="137" name="Google Shape;137;g3d2856ab61f_3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00" y="2315652"/>
            <a:ext cx="682942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d2856ab61f_3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100" y="4340302"/>
            <a:ext cx="41052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d2856ab61f_3_7"/>
          <p:cNvSpPr txBox="1"/>
          <p:nvPr/>
        </p:nvSpPr>
        <p:spPr>
          <a:xfrm>
            <a:off x="163100" y="1852875"/>
            <a:ext cx="616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MCU Side </a:t>
            </a:r>
            <a:r>
              <a:rPr lang="en-US" sz="1600">
                <a:solidFill>
                  <a:schemeClr val="dk1"/>
                </a:solidFill>
              </a:rPr>
              <a:t>(C)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0" name="Google Shape;140;g3d2856ab61f_3_7"/>
          <p:cNvSpPr txBox="1"/>
          <p:nvPr/>
        </p:nvSpPr>
        <p:spPr>
          <a:xfrm>
            <a:off x="163100" y="3807750"/>
            <a:ext cx="616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PC Side (Python)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1" name="Google Shape;141;g3d2856ab61f_3_7"/>
          <p:cNvSpPr txBox="1"/>
          <p:nvPr/>
        </p:nvSpPr>
        <p:spPr>
          <a:xfrm>
            <a:off x="4850275" y="4073350"/>
            <a:ext cx="35874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Send byte from host PC over appropriate COM port into RX pin of MCU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MCU reads and transmits the same byte over its TX pin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If working correctly, Python terminal should show the received byte.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2856ab61f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 Verification</a:t>
            </a:r>
            <a:br>
              <a:rPr lang="en-US"/>
            </a:br>
            <a:r>
              <a:rPr lang="en-US" sz="1600"/>
              <a:t>Lance Pagaduan</a:t>
            </a:r>
            <a:endParaRPr/>
          </a:p>
        </p:txBody>
      </p:sp>
      <p:graphicFrame>
        <p:nvGraphicFramePr>
          <p:cNvPr id="147" name="Google Shape;147;g3d2856ab61f_0_0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{7DB8FFFD-3319-43B0-BD13-824953BA950C}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14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Radar configured to match vital signs demo settings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Raw I/Q data extracted from radar to data capture card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Post processing of I/Q data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Validated I/Q sampling range bin matches vital signs demo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Ongoing verification of data coming from chest region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Ongoing verification of MCU code with I/Q data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2856ab61f_0_10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 Verification</a:t>
            </a:r>
            <a:br>
              <a:rPr lang="en-US"/>
            </a:br>
            <a:r>
              <a:rPr lang="en-US" sz="1600"/>
              <a:t>Lance Pagaduan</a:t>
            </a:r>
            <a:endParaRPr/>
          </a:p>
        </p:txBody>
      </p:sp>
      <p:pic>
        <p:nvPicPr>
          <p:cNvPr id="153" name="Google Shape;153;g3d2856ab61f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148"/>
            <a:ext cx="8187161" cy="623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d2856ab61f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05207"/>
            <a:ext cx="40481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d2856ab61f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141694"/>
            <a:ext cx="8839201" cy="730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d2856ab61f_0_10" title="Screenshot 2026-03-25 14584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5033924"/>
            <a:ext cx="5565860" cy="168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2856ab61f_2_7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 Verification</a:t>
            </a:r>
            <a:br>
              <a:rPr lang="en-US"/>
            </a:br>
            <a:r>
              <a:rPr lang="en-US" sz="1600"/>
              <a:t>Lance Pagaduan</a:t>
            </a:r>
            <a:endParaRPr/>
          </a:p>
        </p:txBody>
      </p:sp>
      <p:pic>
        <p:nvPicPr>
          <p:cNvPr id="162" name="Google Shape;162;g3d2856ab61f_2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2750"/>
            <a:ext cx="8336874" cy="69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d2856ab61f_2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02600"/>
            <a:ext cx="42862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d2856ab61f_2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8184" y="3369350"/>
            <a:ext cx="4696565" cy="31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2856ab61f_2_21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Radar Verification</a:t>
            </a:r>
            <a:br>
              <a:rPr lang="en-US"/>
            </a:br>
            <a:r>
              <a:rPr lang="en-US" sz="1600"/>
              <a:t>Lance Pagaduan</a:t>
            </a:r>
            <a:endParaRPr/>
          </a:p>
        </p:txBody>
      </p:sp>
      <p:pic>
        <p:nvPicPr>
          <p:cNvPr id="170" name="Google Shape;170;g3d2856ab61f_2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00" y="2017875"/>
            <a:ext cx="8341126" cy="11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d2856ab61f_2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375" y="3429002"/>
            <a:ext cx="3942150" cy="30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2856ab61f_0_1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</a:t>
            </a:r>
            <a:br>
              <a:rPr lang="en-US"/>
            </a:br>
            <a:r>
              <a:rPr lang="en-US" sz="1600"/>
              <a:t>Harin Sankar</a:t>
            </a:r>
            <a:endParaRPr/>
          </a:p>
        </p:txBody>
      </p:sp>
      <p:sp>
        <p:nvSpPr>
          <p:cNvPr id="177" name="Google Shape;177;g3d2856ab61f_0_16"/>
          <p:cNvSpPr txBox="1"/>
          <p:nvPr/>
        </p:nvSpPr>
        <p:spPr>
          <a:xfrm>
            <a:off x="3571509" y="172219"/>
            <a:ext cx="380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8" name="Google Shape;178;g3d2856ab61f_0_1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{7DB8FFFD-3319-43B0-BD13-824953BA950C}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13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7725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Integration Testing of the MRI and cardiogram pipeline for data ingest, synchronization, and cardiac binning.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System validation for motion corruption, invalid cardiogram input, and cardiogram outliers.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Complete and document validation results for timing accuracy, motion rejection, and fault handling.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System Validation of MCU-Scan Filter Integration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2856ab61f_4_10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Harin Sankar</a:t>
            </a:r>
            <a:endParaRPr/>
          </a:p>
        </p:txBody>
      </p:sp>
      <p:sp>
        <p:nvSpPr>
          <p:cNvPr id="184" name="Google Shape;184;g3d2856ab61f_4_10"/>
          <p:cNvSpPr txBox="1"/>
          <p:nvPr/>
        </p:nvSpPr>
        <p:spPr>
          <a:xfrm>
            <a:off x="1927123" y="3382297"/>
            <a:ext cx="497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g3d2856ab61f_4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850" y="2929725"/>
            <a:ext cx="5909725" cy="31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d2856ab61f_4_10"/>
          <p:cNvSpPr txBox="1"/>
          <p:nvPr/>
        </p:nvSpPr>
        <p:spPr>
          <a:xfrm>
            <a:off x="1874650" y="2278975"/>
            <a:ext cx="4457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Batch Validation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2856ab61f_4_17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Scan Filter</a:t>
            </a:r>
            <a:br>
              <a:rPr lang="en-US"/>
            </a:br>
            <a:r>
              <a:rPr lang="en-US" sz="1600"/>
              <a:t>Harin Sankar</a:t>
            </a:r>
            <a:endParaRPr/>
          </a:p>
        </p:txBody>
      </p:sp>
      <p:sp>
        <p:nvSpPr>
          <p:cNvPr id="192" name="Google Shape;192;g3d2856ab61f_4_17"/>
          <p:cNvSpPr txBox="1"/>
          <p:nvPr/>
        </p:nvSpPr>
        <p:spPr>
          <a:xfrm>
            <a:off x="1927123" y="3382297"/>
            <a:ext cx="497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d2856ab61f_4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771375"/>
            <a:ext cx="6599051" cy="3257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d2856ab61f_4_17"/>
          <p:cNvSpPr txBox="1"/>
          <p:nvPr/>
        </p:nvSpPr>
        <p:spPr>
          <a:xfrm>
            <a:off x="2693800" y="2259925"/>
            <a:ext cx="3990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95" name="Google Shape;195;g3d2856ab61f_4_17"/>
          <p:cNvSpPr txBox="1"/>
          <p:nvPr/>
        </p:nvSpPr>
        <p:spPr>
          <a:xfrm>
            <a:off x="1874650" y="2299209"/>
            <a:ext cx="65991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Synchronization Validation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2856ab61f_0_3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br>
              <a:rPr lang="en-US"/>
            </a:br>
            <a:r>
              <a:rPr lang="en-US" sz="1600"/>
              <a:t>Simon Becker</a:t>
            </a:r>
            <a:endParaRPr/>
          </a:p>
        </p:txBody>
      </p:sp>
      <p:graphicFrame>
        <p:nvGraphicFramePr>
          <p:cNvPr id="201" name="Google Shape;201;g3d2856ab61f_0_32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{7DB8FFFD-3319-43B0-BD13-824953BA950C}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8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 bench verification of critical Python.NET functions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Foundational scan filter code wrapped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Python package bugfixes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Scenario testing of MRI data input to image viewer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2856ab61f_0_42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Simon Becker</a:t>
            </a:r>
            <a:endParaRPr/>
          </a:p>
        </p:txBody>
      </p:sp>
      <p:sp>
        <p:nvSpPr>
          <p:cNvPr id="207" name="Google Shape;207;g3d2856ab61f_0_42"/>
          <p:cNvSpPr txBox="1"/>
          <p:nvPr/>
        </p:nvSpPr>
        <p:spPr>
          <a:xfrm>
            <a:off x="457200" y="1936100"/>
            <a:ext cx="82296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 u="sng">
                <a:solidFill>
                  <a:srgbClr val="000000"/>
                </a:solidFill>
              </a:rPr>
              <a:t>Python.NET </a:t>
            </a:r>
            <a:r>
              <a:rPr b="1" lang="en-US" sz="2600" u="sng"/>
              <a:t>Scan Filter</a:t>
            </a:r>
            <a:r>
              <a:rPr b="1" lang="en-US" sz="2600" u="sng">
                <a:solidFill>
                  <a:srgbClr val="000000"/>
                </a:solidFill>
              </a:rPr>
              <a:t>:</a:t>
            </a:r>
            <a:endParaRPr b="1" sz="2600" u="sng">
              <a:solidFill>
                <a:srgbClr val="000000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</a:rPr>
              <a:t>Loads </a:t>
            </a:r>
            <a:r>
              <a:rPr b="1" lang="en-US" sz="2600">
                <a:solidFill>
                  <a:schemeClr val="dk1"/>
                </a:solidFill>
              </a:rPr>
              <a:t>EXAMPLE </a:t>
            </a:r>
            <a:r>
              <a:rPr lang="en-US" sz="2600">
                <a:solidFill>
                  <a:schemeClr val="dk1"/>
                </a:solidFill>
              </a:rPr>
              <a:t>DICOM and Cardiogram Data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</a:rPr>
              <a:t>Aligns timetables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</a:rPr>
              <a:t>Detects cardiac cycles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</a:rPr>
              <a:t>Filters acceptable frames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 u="sng">
                <a:solidFill>
                  <a:schemeClr val="dk1"/>
                </a:solidFill>
              </a:rPr>
              <a:t>To Be Tested: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</a:rPr>
              <a:t>Take MRI input values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</a:rPr>
              <a:t>Take cardiogram inputs from radar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213" name="Google Shape;21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333"/>
            <a:ext cx="8839201" cy="3393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SYSTEM Validation Plan</a:t>
            </a:r>
            <a:endParaRPr/>
          </a:p>
        </p:txBody>
      </p:sp>
      <p:pic>
        <p:nvPicPr>
          <p:cNvPr id="219" name="Google Shape;21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333"/>
            <a:ext cx="8839204" cy="377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>
            <p:ph idx="4294967295" type="title"/>
          </p:nvPr>
        </p:nvSpPr>
        <p:spPr>
          <a:xfrm>
            <a:off x="457200" y="1608138"/>
            <a:ext cx="82296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5,6,7,9,10</vt:lpwstr>
  </property>
</Properties>
</file>