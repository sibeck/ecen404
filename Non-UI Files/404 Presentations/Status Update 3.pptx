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hVTw5ngpJQJuYyvrir1bI+BS2k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8914D86-67DD-4E8B-B9A5-E624D2A5A201}">
  <a:tblStyle styleId="{F8914D86-67DD-4E8B-B9A5-E624D2A5A20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customschemas.google.com/relationships/presentationmetadata" Target="metadata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  <p:sp>
        <p:nvSpPr>
          <p:cNvPr id="56" name="Google Shape;5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c93148acec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Kyle</a:t>
            </a:r>
            <a:endParaRPr/>
          </a:p>
        </p:txBody>
      </p:sp>
      <p:sp>
        <p:nvSpPr>
          <p:cNvPr id="63" name="Google Shape;63;g3c93148acec_3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93148acec_3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72" name="Google Shape;72;g3c93148acec_3_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93148acec_3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78" name="Google Shape;78;g3c93148acec_3_10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4" name="Google Shape;84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923f106c0_0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c923f106c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923f106c0_0_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c923f106c0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923f106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6" name="Google Shape;106;g3c923f106c0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93148acec_5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93148acec_5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c93148acec_5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93148acec_5_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c93148acec_5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c93148acec_5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923f106c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9" name="Google Shape;129;g3c923f106c0_0_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93148acec_0_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c93148ace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923f106c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2" name="Google Shape;152;g3c923f106c0_0_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c923f106c0_0_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c923f106c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body"/>
          </p:nvPr>
        </p:nvSpPr>
        <p:spPr>
          <a:xfrm>
            <a:off x="457200" y="2049270"/>
            <a:ext cx="8229600" cy="40768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" name="Google Shape;2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234146"/>
            <a:ext cx="2443865" cy="41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2"/>
          <p:cNvSpPr txBox="1"/>
          <p:nvPr>
            <p:ph type="ctrTitle"/>
          </p:nvPr>
        </p:nvSpPr>
        <p:spPr>
          <a:xfrm>
            <a:off x="3969582" y="2130425"/>
            <a:ext cx="4488617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" type="subTitle"/>
          </p:nvPr>
        </p:nvSpPr>
        <p:spPr>
          <a:xfrm>
            <a:off x="3124200" y="3886200"/>
            <a:ext cx="53339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457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13"/>
          <p:cNvSpPr txBox="1"/>
          <p:nvPr>
            <p:ph idx="2" type="body"/>
          </p:nvPr>
        </p:nvSpPr>
        <p:spPr>
          <a:xfrm>
            <a:off x="4648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4"/>
          <p:cNvSpPr txBox="1"/>
          <p:nvPr>
            <p:ph type="title"/>
          </p:nvPr>
        </p:nvSpPr>
        <p:spPr>
          <a:xfrm>
            <a:off x="457200" y="290064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1066968"/>
            <a:ext cx="3008313" cy="7368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3575050" y="1073720"/>
            <a:ext cx="5111750" cy="505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1803850"/>
            <a:ext cx="3008313" cy="4322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4" name="Google Shape;4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6"/>
          <p:cNvSpPr txBox="1"/>
          <p:nvPr>
            <p:ph type="title"/>
          </p:nvPr>
        </p:nvSpPr>
        <p:spPr>
          <a:xfrm>
            <a:off x="457200" y="1196430"/>
            <a:ext cx="2573672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/>
          <p:nvPr>
            <p:ph idx="2" type="pic"/>
          </p:nvPr>
        </p:nvSpPr>
        <p:spPr>
          <a:xfrm>
            <a:off x="3200400" y="1196430"/>
            <a:ext cx="5486400" cy="4850287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6"/>
          <p:cNvSpPr txBox="1"/>
          <p:nvPr>
            <p:ph idx="1" type="body"/>
          </p:nvPr>
        </p:nvSpPr>
        <p:spPr>
          <a:xfrm>
            <a:off x="457200" y="1768043"/>
            <a:ext cx="2573672" cy="4278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jp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python.net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hyperlink" Target="http://python.net" TargetMode="External"/><Relationship Id="rId5" Type="http://schemas.openxmlformats.org/officeDocument/2006/relationships/hyperlink" Target="http://python.net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/>
          <p:cNvSpPr txBox="1"/>
          <p:nvPr>
            <p:ph type="ctrTitle"/>
          </p:nvPr>
        </p:nvSpPr>
        <p:spPr>
          <a:xfrm>
            <a:off x="1619250" y="3587050"/>
            <a:ext cx="7302600" cy="22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1111"/>
              <a:buFont typeface="Arial"/>
              <a:buNone/>
            </a:pPr>
            <a:r>
              <a:rPr lang="en-US"/>
              <a:t>Team 50: Remote </a:t>
            </a:r>
            <a:br>
              <a:rPr lang="en-US"/>
            </a:br>
            <a:r>
              <a:rPr lang="en-US"/>
              <a:t>Biometric System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42857"/>
              <a:buFont typeface="Arial"/>
              <a:buNone/>
            </a:pPr>
            <a:r>
              <a:rPr lang="en-US"/>
              <a:t>Bi-Weekly Update 3</a:t>
            </a:r>
            <a:br>
              <a:rPr lang="en-US"/>
            </a:br>
            <a:r>
              <a:rPr lang="en-US" sz="2800"/>
              <a:t>Simon Becker</a:t>
            </a:r>
            <a:endParaRPr sz="28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 sz="2800"/>
              <a:t>Andrew-Joseph Nicolas</a:t>
            </a:r>
            <a:endParaRPr sz="28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 sz="2800"/>
              <a:t>Lance Pagaduan</a:t>
            </a:r>
            <a:endParaRPr sz="28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42857"/>
              <a:buFont typeface="Arial"/>
              <a:buNone/>
            </a:pPr>
            <a:r>
              <a:rPr lang="en-US" sz="2800"/>
              <a:t>Harin Sankar</a:t>
            </a:r>
            <a:br>
              <a:rPr lang="en-US" sz="2455"/>
            </a:br>
            <a:r>
              <a:rPr lang="en-US" sz="2455"/>
              <a:t>Sponsor: Dr. Steven Wright</a:t>
            </a:r>
            <a:br>
              <a:rPr lang="en-US" sz="2455"/>
            </a:br>
            <a:r>
              <a:rPr lang="en-US" sz="2455"/>
              <a:t>TA: Hailey Ward</a:t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0" y="0"/>
            <a:ext cx="6111425" cy="6111425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4000" y="1105318"/>
            <a:ext cx="3114199" cy="52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93148acec_3_5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Contactless Cardiac Gating</a:t>
            </a:r>
            <a:endParaRPr/>
          </a:p>
        </p:txBody>
      </p:sp>
      <p:sp>
        <p:nvSpPr>
          <p:cNvPr id="66" name="Google Shape;66;g3c93148acec_3_5"/>
          <p:cNvSpPr txBox="1"/>
          <p:nvPr>
            <p:ph idx="1" type="body"/>
          </p:nvPr>
        </p:nvSpPr>
        <p:spPr>
          <a:xfrm>
            <a:off x="0" y="2097450"/>
            <a:ext cx="4532100" cy="46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937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Extensive and uncomfortable prep can be necessary</a:t>
            </a:r>
            <a:endParaRPr baseline="30000" sz="2600"/>
          </a:p>
          <a:p>
            <a:pPr indent="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-3937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MRI Patient throughput can be improved</a:t>
            </a:r>
            <a:endParaRPr sz="26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-3937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32% of patients think they wait too long for MRIs</a:t>
            </a:r>
            <a:r>
              <a:rPr baseline="30000" lang="en-US" sz="2600"/>
              <a:t>1</a:t>
            </a:r>
            <a:endParaRPr sz="26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2600"/>
          </a:p>
        </p:txBody>
      </p:sp>
      <p:sp>
        <p:nvSpPr>
          <p:cNvPr id="67" name="Google Shape;67;g3c93148acec_3_5"/>
          <p:cNvSpPr txBox="1"/>
          <p:nvPr/>
        </p:nvSpPr>
        <p:spPr>
          <a:xfrm>
            <a:off x="96600" y="6303900"/>
            <a:ext cx="895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Dostál, M., Jurasová, K., Keřkovský, M. </a:t>
            </a:r>
            <a:r>
              <a:rPr i="1" lang="en-US" sz="1200">
                <a:solidFill>
                  <a:schemeClr val="dk1"/>
                </a:solidFill>
              </a:rPr>
              <a:t>et al.</a:t>
            </a:r>
            <a:r>
              <a:rPr lang="en-US" sz="1200">
                <a:solidFill>
                  <a:schemeClr val="dk1"/>
                </a:solidFill>
              </a:rPr>
              <a:t> What factors affect a patient’s subjective perception of MRI examination. </a:t>
            </a:r>
            <a:r>
              <a:rPr i="1" lang="en-US" sz="1200">
                <a:solidFill>
                  <a:schemeClr val="dk1"/>
                </a:solidFill>
              </a:rPr>
              <a:t>Sci Rep</a:t>
            </a:r>
            <a:r>
              <a:rPr lang="en-US" sz="1200">
                <a:solidFill>
                  <a:schemeClr val="dk1"/>
                </a:solidFill>
              </a:rPr>
              <a:t> </a:t>
            </a:r>
            <a:r>
              <a:rPr b="1" lang="en-US" sz="1200">
                <a:solidFill>
                  <a:schemeClr val="dk1"/>
                </a:solidFill>
              </a:rPr>
              <a:t>14</a:t>
            </a:r>
            <a:r>
              <a:rPr lang="en-US" sz="1200">
                <a:solidFill>
                  <a:schemeClr val="dk1"/>
                </a:solidFill>
              </a:rPr>
              <a:t>, 22731 (2024). https://doi.org/10.1038/s41598-024-74231-9</a:t>
            </a:r>
            <a:endParaRPr sz="1200"/>
          </a:p>
        </p:txBody>
      </p:sp>
      <p:pic>
        <p:nvPicPr>
          <p:cNvPr id="68" name="Google Shape;68;g3c93148acec_3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7650" y="2161887"/>
            <a:ext cx="4699750" cy="28174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g3c93148acec_3_5"/>
          <p:cNvSpPr txBox="1"/>
          <p:nvPr/>
        </p:nvSpPr>
        <p:spPr>
          <a:xfrm>
            <a:off x="4347625" y="4904075"/>
            <a:ext cx="4699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66666"/>
                </a:solidFill>
              </a:rPr>
              <a:t>Vasireddy, Rakesh &amp; Roth, Corinne &amp; Mathis, Johannes &amp; Goette, Josef &amp; Jacomet, Marcel &amp; Vogt, Andreas. (2018). K-band Doppler radar for contact-less overnight sleep marker assessment: a pilot validation study. Journal of Clinical Monitoring and Computing. 32. 10.1007/s10877-017-0060-9. </a:t>
            </a:r>
            <a:endParaRPr sz="8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c93148acec_3_58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Contactless Cardiac Gating</a:t>
            </a:r>
            <a:endParaRPr/>
          </a:p>
        </p:txBody>
      </p:sp>
      <p:pic>
        <p:nvPicPr>
          <p:cNvPr id="75" name="Google Shape;75;g3c93148acec_3_58" title="Block Diagram Present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700" y="1673300"/>
            <a:ext cx="8316600" cy="48049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93148acec_3_108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 Timeline </a:t>
            </a:r>
            <a:endParaRPr/>
          </a:p>
        </p:txBody>
      </p:sp>
      <p:graphicFrame>
        <p:nvGraphicFramePr>
          <p:cNvPr id="81" name="Google Shape;81;g3c93148acec_3_108"/>
          <p:cNvGraphicFramePr/>
          <p:nvPr/>
        </p:nvGraphicFramePr>
        <p:xfrm>
          <a:off x="286334" y="27350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{F8914D86-67DD-4E8B-B9A5-E624D2A5A201}</a:tableStyleId>
              </a:tblPr>
              <a:tblGrid>
                <a:gridCol w="1245350"/>
                <a:gridCol w="1240575"/>
                <a:gridCol w="1242975"/>
                <a:gridCol w="1252525"/>
                <a:gridCol w="1308550"/>
                <a:gridCol w="1182175"/>
                <a:gridCol w="1099200"/>
              </a:tblGrid>
              <a:tr h="1387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Subsystem Designs and Testing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(</a:t>
                      </a:r>
                      <a:r>
                        <a:rPr lang="en-US" sz="1300"/>
                        <a:t>completed 2/2</a:t>
                      </a:r>
                      <a:r>
                        <a:rPr lang="en-US" sz="1300" u="none" cap="none" strike="noStrike"/>
                        <a:t>)</a:t>
                      </a:r>
                      <a:endParaRPr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PCB Ordered</a:t>
                      </a:r>
                      <a:r>
                        <a:rPr lang="en-US" sz="1300" u="none" cap="none" strike="noStrike"/>
                        <a:t> (completed </a:t>
                      </a:r>
                      <a:r>
                        <a:rPr lang="en-US" sz="1300"/>
                        <a:t>2/4</a:t>
                      </a:r>
                      <a:r>
                        <a:rPr lang="en-US" sz="1300" u="none" cap="none" strike="noStrike"/>
                        <a:t>)</a:t>
                      </a:r>
                      <a:endParaRPr sz="1300" u="none" cap="none" strike="noStrike"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MCU and PCB Integration </a:t>
                      </a:r>
                      <a:br>
                        <a:rPr lang="en-US" sz="1300">
                          <a:solidFill>
                            <a:schemeClr val="dk1"/>
                          </a:solidFill>
                        </a:rPr>
                      </a:b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(to complete by 2/23)</a:t>
                      </a:r>
                      <a:endParaRPr sz="1300" u="none" cap="none" strike="noStrike"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Integration of Scan Filter and Desktop Application</a:t>
                      </a:r>
                      <a:br>
                        <a:rPr lang="en-US" sz="1300">
                          <a:solidFill>
                            <a:schemeClr val="dk1"/>
                          </a:solidFill>
                        </a:rPr>
                      </a:b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(to complete by 2/23)</a:t>
                      </a:r>
                      <a:endParaRPr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System Testing</a:t>
                      </a:r>
                      <a:br>
                        <a:rPr lang="en-US" sz="1300" u="none" cap="none" strike="noStrike"/>
                      </a:br>
                      <a:r>
                        <a:rPr lang="en-US" sz="1300" u="none" cap="none" strike="noStrike"/>
                        <a:t>(to complete by </a:t>
                      </a:r>
                      <a:r>
                        <a:rPr lang="en-US" sz="1300"/>
                        <a:t>3/11</a:t>
                      </a:r>
                      <a:r>
                        <a:rPr lang="en-US" sz="1300" u="none" cap="none" strike="noStrike"/>
                        <a:t>)</a:t>
                      </a:r>
                      <a:endParaRPr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Validation</a:t>
                      </a:r>
                      <a:br>
                        <a:rPr lang="en-US" sz="1300" u="none" cap="none" strike="noStrike"/>
                      </a:br>
                      <a:r>
                        <a:rPr lang="en-US" sz="1300" u="none" cap="none" strike="noStrike"/>
                        <a:t>(to complete by </a:t>
                      </a:r>
                      <a:r>
                        <a:rPr lang="en-US" sz="1300"/>
                        <a:t>4/6</a:t>
                      </a:r>
                      <a:r>
                        <a:rPr lang="en-US" sz="1300" u="none" cap="none" strike="noStrike"/>
                        <a:t>)</a:t>
                      </a:r>
                      <a:endParaRPr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Demo and Report </a:t>
                      </a:r>
                      <a:br>
                        <a:rPr lang="en-US" sz="1300" u="none" cap="none" strike="noStrike"/>
                      </a:br>
                      <a:r>
                        <a:rPr lang="en-US" sz="1300" u="none" cap="none" strike="noStrike"/>
                        <a:t>(to complete by 4/19)</a:t>
                      </a:r>
                      <a:endParaRPr sz="1300" u="none" cap="none" strike="noStrike"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Radar/MCU Integration</a:t>
            </a:r>
            <a:br>
              <a:rPr lang="en-US"/>
            </a:br>
            <a:r>
              <a:rPr lang="en-US" sz="1600"/>
              <a:t>Lance Pagaduan</a:t>
            </a:r>
            <a:endParaRPr/>
          </a:p>
        </p:txBody>
      </p:sp>
      <p:graphicFrame>
        <p:nvGraphicFramePr>
          <p:cNvPr id="87" name="Google Shape;87;p6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{F8914D86-67DD-4E8B-B9A5-E624D2A5A201}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last update                          </a:t>
                      </a:r>
                      <a:r>
                        <a:rPr lang="en-US" sz="1800">
                          <a:solidFill>
                            <a:srgbClr val="C00000"/>
                          </a:solidFill>
                        </a:rPr>
                        <a:t>8</a:t>
                      </a:r>
                      <a:r>
                        <a:rPr lang="en-US" sz="1800" u="none" cap="none" strike="noStrike">
                          <a:solidFill>
                            <a:srgbClr val="C0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Functional radar able to detect heartbeat and respiration rate from a 2m range.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On-going functional testing of the radar adjusting configuration parameters.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Accurate I/Q data to be tested with MCU 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923f106c0_0_6"/>
          <p:cNvSpPr txBox="1"/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Radar/MCU Testing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600"/>
              <a:t>Lance Pagaduan</a:t>
            </a:r>
            <a:endParaRPr/>
          </a:p>
        </p:txBody>
      </p:sp>
      <p:pic>
        <p:nvPicPr>
          <p:cNvPr id="93" name="Google Shape;93;g3c923f106c0_0_6" title="Standing Still 2m.png"/>
          <p:cNvPicPr preferRelativeResize="0"/>
          <p:nvPr/>
        </p:nvPicPr>
        <p:blipFill rotWithShape="1">
          <a:blip r:embed="rId3">
            <a:alphaModFix/>
          </a:blip>
          <a:srcRect b="0" l="20115" r="0" t="0"/>
          <a:stretch/>
        </p:blipFill>
        <p:spPr>
          <a:xfrm>
            <a:off x="3525175" y="2746125"/>
            <a:ext cx="5481575" cy="36462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3c923f106c0_0_6"/>
          <p:cNvSpPr txBox="1"/>
          <p:nvPr/>
        </p:nvSpPr>
        <p:spPr>
          <a:xfrm>
            <a:off x="457200" y="1852750"/>
            <a:ext cx="7810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</a:rPr>
              <a:t>Functional Testing Heart Rate 2 meters away</a:t>
            </a:r>
            <a:endParaRPr sz="2500">
              <a:solidFill>
                <a:schemeClr val="dk1"/>
              </a:solidFill>
            </a:endParaRPr>
          </a:p>
        </p:txBody>
      </p:sp>
      <p:pic>
        <p:nvPicPr>
          <p:cNvPr id="95" name="Google Shape;95;g3c923f106c0_0_6"/>
          <p:cNvPicPr preferRelativeResize="0"/>
          <p:nvPr/>
        </p:nvPicPr>
        <p:blipFill rotWithShape="1">
          <a:blip r:embed="rId4">
            <a:alphaModFix/>
          </a:blip>
          <a:srcRect b="0" l="26063" r="0" t="0"/>
          <a:stretch/>
        </p:blipFill>
        <p:spPr>
          <a:xfrm>
            <a:off x="457200" y="2460350"/>
            <a:ext cx="2783799" cy="421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923f106c0_0_48"/>
          <p:cNvSpPr txBox="1"/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Radar/MCU Testing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600"/>
              <a:t>Lance Pagaduan</a:t>
            </a:r>
            <a:endParaRPr/>
          </a:p>
        </p:txBody>
      </p:sp>
      <p:sp>
        <p:nvSpPr>
          <p:cNvPr id="101" name="Google Shape;101;g3c923f106c0_0_48"/>
          <p:cNvSpPr txBox="1"/>
          <p:nvPr/>
        </p:nvSpPr>
        <p:spPr>
          <a:xfrm>
            <a:off x="457200" y="1852750"/>
            <a:ext cx="7810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</a:rPr>
              <a:t>Functional Testing Heart Rate Close Up</a:t>
            </a:r>
            <a:endParaRPr sz="2500">
              <a:solidFill>
                <a:schemeClr val="dk1"/>
              </a:solidFill>
            </a:endParaRPr>
          </a:p>
        </p:txBody>
      </p:sp>
      <p:pic>
        <p:nvPicPr>
          <p:cNvPr id="102" name="Google Shape;102;g3c923f106c0_0_48" title="Standing Still Heart Rate (close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422150"/>
            <a:ext cx="3098289" cy="4131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g3c923f106c0_0_48" title="Standing Still (close).png"/>
          <p:cNvPicPr preferRelativeResize="0"/>
          <p:nvPr/>
        </p:nvPicPr>
        <p:blipFill rotWithShape="1">
          <a:blip r:embed="rId4">
            <a:alphaModFix/>
          </a:blip>
          <a:srcRect b="0" l="19885" r="0" t="0"/>
          <a:stretch/>
        </p:blipFill>
        <p:spPr>
          <a:xfrm>
            <a:off x="3555500" y="2550245"/>
            <a:ext cx="5394824" cy="36031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c923f106c0_0_0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PCB</a:t>
            </a:r>
            <a:br>
              <a:rPr lang="en-US"/>
            </a:br>
            <a:r>
              <a:rPr lang="en-US" sz="1600"/>
              <a:t>Andrew Nicolas </a:t>
            </a:r>
            <a:endParaRPr/>
          </a:p>
        </p:txBody>
      </p:sp>
      <p:graphicFrame>
        <p:nvGraphicFramePr>
          <p:cNvPr id="109" name="Google Shape;109;g3c923f106c0_0_0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{F8914D86-67DD-4E8B-B9A5-E624D2A5A201}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last update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C00000"/>
                          </a:solidFill>
                        </a:rPr>
                        <a:t>8 hrs of effort</a:t>
                      </a:r>
                      <a:r>
                        <a:rPr lang="en-US" sz="1800" u="none" cap="none" strike="noStrike"/>
                        <a:t>                          </a:t>
                      </a:r>
                      <a:endParaRPr sz="18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All parts have arrived as of 02/17.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Soldering parts onto PCB and validating essential integration between PCB and hardware.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Improve accuracy of radar’s outputs.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c93148acec_5_0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CFG File Changes</a:t>
            </a:r>
            <a:endParaRPr/>
          </a:p>
        </p:txBody>
      </p:sp>
      <p:pic>
        <p:nvPicPr>
          <p:cNvPr id="116" name="Google Shape;116;g3c93148acec_5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852875"/>
            <a:ext cx="38862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g3c93148acec_5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2756075"/>
            <a:ext cx="29813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g3c93148acec_5_0"/>
          <p:cNvPicPr preferRelativeResize="0"/>
          <p:nvPr/>
        </p:nvPicPr>
        <p:blipFill rotWithShape="1">
          <a:blip r:embed="rId5">
            <a:alphaModFix/>
          </a:blip>
          <a:srcRect b="0" l="0" r="0" t="45537"/>
          <a:stretch/>
        </p:blipFill>
        <p:spPr>
          <a:xfrm>
            <a:off x="457200" y="3868825"/>
            <a:ext cx="4438650" cy="264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3c93148acec_5_0"/>
          <p:cNvSpPr txBox="1"/>
          <p:nvPr/>
        </p:nvSpPr>
        <p:spPr>
          <a:xfrm>
            <a:off x="415625" y="2043375"/>
            <a:ext cx="6253800" cy="23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Reducing the frame time can make heart rate updates smoother and less jumpy.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Shrinking the range window to focus only on the person’s chest can reduce sudden heart rate swings.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Isolating the detection area to the individual’s chest can reduce interference from background objects.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93148acec_5_11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Testbench </a:t>
            </a:r>
            <a:r>
              <a:rPr lang="en-US"/>
              <a:t>Design</a:t>
            </a:r>
            <a:endParaRPr/>
          </a:p>
        </p:txBody>
      </p:sp>
      <p:sp>
        <p:nvSpPr>
          <p:cNvPr id="126" name="Google Shape;126;g3c93148acec_5_11"/>
          <p:cNvSpPr txBox="1"/>
          <p:nvPr>
            <p:ph idx="1" type="body"/>
          </p:nvPr>
        </p:nvSpPr>
        <p:spPr>
          <a:xfrm>
            <a:off x="457200" y="2049270"/>
            <a:ext cx="8229600" cy="407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Establish baseline metrics: average heart rate and respiration rate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Vary one physical parameter at a time (distance, angle, posture)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Vary one config parameter at a time (range-bin window, frame timing, detection boundary)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Compare each change against baseline using heart rate stability and bin switching as performance criteria</a:t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923f106c0_0_30"/>
          <p:cNvSpPr txBox="1"/>
          <p:nvPr>
            <p:ph type="title"/>
          </p:nvPr>
        </p:nvSpPr>
        <p:spPr>
          <a:xfrm>
            <a:off x="457200" y="84372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Scan Filter</a:t>
            </a:r>
            <a:br>
              <a:rPr lang="en-US"/>
            </a:br>
            <a:r>
              <a:rPr lang="en-US" sz="1600"/>
              <a:t>Harin Sankar </a:t>
            </a:r>
            <a:endParaRPr/>
          </a:p>
        </p:txBody>
      </p:sp>
      <p:graphicFrame>
        <p:nvGraphicFramePr>
          <p:cNvPr id="132" name="Google Shape;132;g3c923f106c0_0_30"/>
          <p:cNvGraphicFramePr/>
          <p:nvPr/>
        </p:nvGraphicFramePr>
        <p:xfrm>
          <a:off x="685800" y="1704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{F8914D86-67DD-4E8B-B9A5-E624D2A5A201}</a:tableStyleId>
              </a:tblPr>
              <a:tblGrid>
                <a:gridCol w="4000500"/>
                <a:gridCol w="4000500"/>
              </a:tblGrid>
              <a:tr h="1025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last update                          </a:t>
                      </a:r>
                      <a:r>
                        <a:rPr lang="en-US" sz="1800" u="none" cap="none" strike="noStrike">
                          <a:solidFill>
                            <a:srgbClr val="C00000"/>
                          </a:solidFill>
                        </a:rPr>
                        <a:t> 18 hrs of effort</a:t>
                      </a:r>
                      <a:endParaRPr sz="18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4083175">
                <a:tc>
                  <a:txBody>
                    <a:bodyPr/>
                    <a:lstStyle/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MRI Integration: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Selected MR Solutions + ISMRMRD/HDF5 path.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Built and validated Python MR Solutions raw-data reader for </a:t>
                      </a: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instantaneous </a:t>
                      </a: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input.</a:t>
                      </a:r>
                      <a:br>
                        <a:rPr lang="en-US" sz="1800">
                          <a:solidFill>
                            <a:schemeClr val="dk1"/>
                          </a:solidFill>
                        </a:rPr>
                      </a:b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      </a:t>
                      </a: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 UI Integration: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Set up </a:t>
                      </a: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environment</a:t>
                      </a: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 where C# can call Python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MRI Integration:</a:t>
                      </a:r>
                      <a:endParaRPr sz="1800"/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Add derived timestamps to MRI readouts based on MRI.</a:t>
                      </a:r>
                      <a:br>
                        <a:rPr lang="en-US" sz="1800"/>
                      </a:br>
                      <a:endParaRPr sz="1800"/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Test multiple images/readouts against time for binning.</a:t>
                      </a:r>
                      <a:br>
                        <a:rPr lang="en-US" sz="1800"/>
                      </a:br>
                      <a:endParaRPr sz="1800"/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UI Integration:</a:t>
                      </a:r>
                      <a:endParaRPr sz="1800"/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Make C# environment retrieve a DICOM file from python code.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>
            <p:ph type="title"/>
          </p:nvPr>
        </p:nvSpPr>
        <p:spPr>
          <a:xfrm>
            <a:off x="457200" y="1049338"/>
            <a:ext cx="8229600" cy="8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Scan Filter</a:t>
            </a:r>
            <a:br>
              <a:rPr lang="en-US"/>
            </a:br>
            <a:r>
              <a:rPr lang="en-US" sz="1600"/>
              <a:t>Harin Sankar </a:t>
            </a:r>
            <a:endParaRPr/>
          </a:p>
        </p:txBody>
      </p:sp>
      <p:pic>
        <p:nvPicPr>
          <p:cNvPr id="138" name="Google Shape;138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6475" y="2868925"/>
            <a:ext cx="2872025" cy="310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7"/>
          <p:cNvPicPr preferRelativeResize="0"/>
          <p:nvPr/>
        </p:nvPicPr>
        <p:blipFill rotWithShape="1">
          <a:blip r:embed="rId4">
            <a:alphaModFix/>
          </a:blip>
          <a:srcRect b="0" l="8383" r="0" t="0"/>
          <a:stretch/>
        </p:blipFill>
        <p:spPr>
          <a:xfrm>
            <a:off x="696100" y="2868925"/>
            <a:ext cx="4865449" cy="3203976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7"/>
          <p:cNvSpPr txBox="1"/>
          <p:nvPr/>
        </p:nvSpPr>
        <p:spPr>
          <a:xfrm>
            <a:off x="1573375" y="2328425"/>
            <a:ext cx="24531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Expected Image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6474125" y="2391725"/>
            <a:ext cx="24531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Generated</a:t>
            </a:r>
            <a:r>
              <a:rPr lang="en-US">
                <a:solidFill>
                  <a:schemeClr val="dk1"/>
                </a:solidFill>
              </a:rPr>
              <a:t> Image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93148acec_0_25"/>
          <p:cNvSpPr txBox="1"/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Scan Filter</a:t>
            </a:r>
            <a:br>
              <a:rPr lang="en-US"/>
            </a:br>
            <a:r>
              <a:rPr lang="en-US" sz="1600"/>
              <a:t>Harin Sankar </a:t>
            </a:r>
            <a:endParaRPr/>
          </a:p>
        </p:txBody>
      </p:sp>
      <p:sp>
        <p:nvSpPr>
          <p:cNvPr id="147" name="Google Shape;147;g3c93148acec_0_25"/>
          <p:cNvSpPr txBox="1"/>
          <p:nvPr/>
        </p:nvSpPr>
        <p:spPr>
          <a:xfrm>
            <a:off x="1109025" y="2581300"/>
            <a:ext cx="6534900" cy="3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MRI magnet planned shutdown in ~1 month (testing window is limited).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May need cryogen funding to keep the magnet running longer.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Testing plan: peristaltic pump + tubing near/inside a fluid-filled balloon to create repeatable motion for gating.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48" name="Google Shape;148;g3c93148acec_0_25"/>
          <p:cNvSpPr txBox="1"/>
          <p:nvPr/>
        </p:nvSpPr>
        <p:spPr>
          <a:xfrm>
            <a:off x="1109025" y="1971025"/>
            <a:ext cx="67620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Testing Issues</a:t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149" name="Google Shape;149;g3c93148acec_0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4900" y="4131250"/>
            <a:ext cx="2523150" cy="208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923f106c0_0_24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User Interface</a:t>
            </a:r>
            <a:br>
              <a:rPr lang="en-US"/>
            </a:br>
            <a:r>
              <a:rPr lang="en-US" sz="1600"/>
              <a:t>Simon Becker</a:t>
            </a:r>
            <a:endParaRPr/>
          </a:p>
        </p:txBody>
      </p:sp>
      <p:graphicFrame>
        <p:nvGraphicFramePr>
          <p:cNvPr id="155" name="Google Shape;155;g3c923f106c0_0_24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{F8914D86-67DD-4E8B-B9A5-E624D2A5A201}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last update                          </a:t>
                      </a:r>
                      <a:r>
                        <a:rPr lang="en-US" sz="1800">
                          <a:solidFill>
                            <a:srgbClr val="C00000"/>
                          </a:solidFill>
                        </a:rPr>
                        <a:t>16</a:t>
                      </a:r>
                      <a:r>
                        <a:rPr lang="en-US" sz="1800" u="none" cap="none" strike="noStrike">
                          <a:solidFill>
                            <a:srgbClr val="C0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Written test bench code to verify </a:t>
                      </a:r>
                      <a:r>
                        <a:rPr lang="en-US" sz="1800" u="sng">
                          <a:solidFill>
                            <a:schemeClr val="hlink"/>
                          </a:solidFill>
                          <a:hlinkClick r:id="rId3"/>
                        </a:rPr>
                        <a:t>Python.NET</a:t>
                      </a:r>
                      <a:r>
                        <a:rPr lang="en-US" sz="1800"/>
                        <a:t> functionality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Testing and debugging of Python code in new C# environment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Implementing this new environment with Scan Filter code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923f106c0_0_12"/>
          <p:cNvSpPr txBox="1"/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User Interface</a:t>
            </a:r>
            <a:br>
              <a:rPr lang="en-US"/>
            </a:br>
            <a:r>
              <a:rPr lang="en-US" sz="1600"/>
              <a:t>Simon Becker</a:t>
            </a:r>
            <a:endParaRPr/>
          </a:p>
        </p:txBody>
      </p:sp>
      <p:pic>
        <p:nvPicPr>
          <p:cNvPr id="161" name="Google Shape;161;g3c923f106c0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450" y="1927213"/>
            <a:ext cx="8039100" cy="268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3c923f106c0_0_12"/>
          <p:cNvSpPr txBox="1"/>
          <p:nvPr/>
        </p:nvSpPr>
        <p:spPr>
          <a:xfrm>
            <a:off x="552450" y="4687750"/>
            <a:ext cx="8039100" cy="18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Testbench ensures that </a:t>
            </a:r>
            <a:r>
              <a:rPr lang="en-US" sz="2000" u="sng">
                <a:solidFill>
                  <a:schemeClr val="hlink"/>
                </a:solidFill>
                <a:hlinkClick r:id="rId4"/>
              </a:rPr>
              <a:t>Python.NET</a:t>
            </a:r>
            <a:r>
              <a:rPr lang="en-US" sz="2000">
                <a:solidFill>
                  <a:schemeClr val="dk1"/>
                </a:solidFill>
              </a:rPr>
              <a:t> wrapper is functioning properly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Instead of stdout strings, </a:t>
            </a:r>
            <a:r>
              <a:rPr lang="en-US" sz="2000" u="sng">
                <a:solidFill>
                  <a:schemeClr val="hlink"/>
                </a:solidFill>
                <a:hlinkClick r:id="rId5"/>
              </a:rPr>
              <a:t>Python.NET</a:t>
            </a:r>
            <a:r>
              <a:rPr lang="en-US" sz="2000">
                <a:solidFill>
                  <a:schemeClr val="dk1"/>
                </a:solidFill>
              </a:rPr>
              <a:t> allows us to work entirely in C# objects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Execution &amp; Validation Plan</a:t>
            </a:r>
            <a:endParaRPr/>
          </a:p>
        </p:txBody>
      </p:sp>
      <p:pic>
        <p:nvPicPr>
          <p:cNvPr id="168" name="Google Shape;168;p8"/>
          <p:cNvPicPr preferRelativeResize="0"/>
          <p:nvPr/>
        </p:nvPicPr>
        <p:blipFill rotWithShape="1">
          <a:blip r:embed="rId3">
            <a:alphaModFix/>
          </a:blip>
          <a:srcRect b="0" l="0" r="0" t="1371"/>
          <a:stretch/>
        </p:blipFill>
        <p:spPr>
          <a:xfrm>
            <a:off x="152400" y="1626125"/>
            <a:ext cx="8839200" cy="45464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"/>
          <p:cNvSpPr txBox="1"/>
          <p:nvPr>
            <p:ph idx="4294967295" type="title"/>
          </p:nvPr>
        </p:nvSpPr>
        <p:spPr>
          <a:xfrm>
            <a:off x="457200" y="1608138"/>
            <a:ext cx="8229600" cy="40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200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2013-06-18T16:37:55Z</dcterms:created>
  <dc:creator>Nowka, Kevin J.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ReadingOrderVerifiedPages">
    <vt:lpwstr>5,8</vt:lpwstr>
  </property>
</Properties>
</file>