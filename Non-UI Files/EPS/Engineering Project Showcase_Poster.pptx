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 roundtripDataSignature="AMtx7mhzcKoGr9cMlggEHPDccK+Xnbh+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4838"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4838"/>
              <a:buFont typeface="Arial"/>
              <a:buNone/>
            </a:pPr>
            <a:r>
              <a:t/>
            </a:r>
            <a:endParaRPr/>
          </a:p>
        </p:txBody>
      </p:sp>
      <p:sp>
        <p:nvSpPr>
          <p:cNvPr id="29" name="Google Shape;2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Image">
  <p:cSld name="Background Image">
    <p:spTree>
      <p:nvGrpSpPr>
        <p:cNvPr id="18" name="Shape 18"/>
        <p:cNvGrpSpPr/>
        <p:nvPr/>
      </p:nvGrpSpPr>
      <p:grpSpPr>
        <a:xfrm>
          <a:off x="0" y="0"/>
          <a:ext cx="0" cy="0"/>
          <a:chOff x="0" y="0"/>
          <a:chExt cx="0" cy="0"/>
        </a:xfrm>
      </p:grpSpPr>
      <p:sp>
        <p:nvSpPr>
          <p:cNvPr id="19" name="Google Shape;19;p3"/>
          <p:cNvSpPr txBox="1"/>
          <p:nvPr>
            <p:ph type="title"/>
          </p:nvPr>
        </p:nvSpPr>
        <p:spPr>
          <a:xfrm>
            <a:off x="7772400" y="457200"/>
            <a:ext cx="28346400" cy="45720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6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0" name="Google Shape;20;p3"/>
          <p:cNvSpPr txBox="1"/>
          <p:nvPr>
            <p:ph idx="1" type="body"/>
          </p:nvPr>
        </p:nvSpPr>
        <p:spPr>
          <a:xfrm>
            <a:off x="914400" y="6590021"/>
            <a:ext cx="9829800" cy="24003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1" i="0" sz="4800" u="sng" cap="none" strike="noStrike">
                <a:solidFill>
                  <a:srgbClr val="5D0025"/>
                </a:solidFill>
                <a:latin typeface="Arial"/>
                <a:ea typeface="Arial"/>
                <a:cs typeface="Arial"/>
                <a:sym typeface="Arial"/>
              </a:defRPr>
            </a:lvl1pPr>
            <a:lvl2pPr indent="-406400" lvl="1" marL="914400" marR="0" rtl="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cxnSp>
        <p:nvCxnSpPr>
          <p:cNvPr id="21" name="Google Shape;21;p3"/>
          <p:cNvCxnSpPr/>
          <p:nvPr/>
        </p:nvCxnSpPr>
        <p:spPr>
          <a:xfrm>
            <a:off x="11201400" y="6400800"/>
            <a:ext cx="0" cy="24886364"/>
          </a:xfrm>
          <a:prstGeom prst="straightConnector1">
            <a:avLst/>
          </a:prstGeom>
          <a:noFill/>
          <a:ln cap="flat" cmpd="tri" w="76200">
            <a:solidFill>
              <a:schemeClr val="dk1"/>
            </a:solidFill>
            <a:prstDash val="solid"/>
            <a:round/>
            <a:headEnd len="med" w="med" type="oval"/>
            <a:tailEnd len="med" w="med" type="oval"/>
          </a:ln>
        </p:spPr>
      </p:cxnSp>
      <p:sp>
        <p:nvSpPr>
          <p:cNvPr id="22" name="Google Shape;22;p3"/>
          <p:cNvSpPr txBox="1"/>
          <p:nvPr>
            <p:ph idx="2" type="body"/>
          </p:nvPr>
        </p:nvSpPr>
        <p:spPr>
          <a:xfrm>
            <a:off x="11658600" y="6590020"/>
            <a:ext cx="9829800" cy="24003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1" i="0" sz="4800" u="sng" cap="none" strike="noStrike">
                <a:solidFill>
                  <a:srgbClr val="5D0025"/>
                </a:solidFill>
                <a:latin typeface="Arial"/>
                <a:ea typeface="Arial"/>
                <a:cs typeface="Arial"/>
                <a:sym typeface="Arial"/>
              </a:defRPr>
            </a:lvl1pPr>
            <a:lvl2pPr indent="-406400" lvl="1" marL="914400" marR="0" rtl="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cxnSp>
        <p:nvCxnSpPr>
          <p:cNvPr id="23" name="Google Shape;23;p3"/>
          <p:cNvCxnSpPr/>
          <p:nvPr/>
        </p:nvCxnSpPr>
        <p:spPr>
          <a:xfrm>
            <a:off x="21945600" y="6400800"/>
            <a:ext cx="0" cy="24917400"/>
          </a:xfrm>
          <a:prstGeom prst="straightConnector1">
            <a:avLst/>
          </a:prstGeom>
          <a:noFill/>
          <a:ln cap="flat" cmpd="tri" w="76200">
            <a:solidFill>
              <a:schemeClr val="dk1"/>
            </a:solidFill>
            <a:prstDash val="solid"/>
            <a:round/>
            <a:headEnd len="med" w="med" type="oval"/>
            <a:tailEnd len="med" w="med" type="oval"/>
          </a:ln>
        </p:spPr>
      </p:cxnSp>
      <p:sp>
        <p:nvSpPr>
          <p:cNvPr id="24" name="Google Shape;24;p3"/>
          <p:cNvSpPr txBox="1"/>
          <p:nvPr>
            <p:ph idx="3" type="body"/>
          </p:nvPr>
        </p:nvSpPr>
        <p:spPr>
          <a:xfrm>
            <a:off x="22402800" y="6590020"/>
            <a:ext cx="9829800" cy="24003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1" i="0" sz="4800" u="sng" cap="none" strike="noStrike">
                <a:solidFill>
                  <a:srgbClr val="5D0025"/>
                </a:solidFill>
                <a:latin typeface="Arial"/>
                <a:ea typeface="Arial"/>
                <a:cs typeface="Arial"/>
                <a:sym typeface="Arial"/>
              </a:defRPr>
            </a:lvl1pPr>
            <a:lvl2pPr indent="-406400" lvl="1" marL="914400" marR="0" rtl="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cxnSp>
        <p:nvCxnSpPr>
          <p:cNvPr id="25" name="Google Shape;25;p3"/>
          <p:cNvCxnSpPr/>
          <p:nvPr/>
        </p:nvCxnSpPr>
        <p:spPr>
          <a:xfrm>
            <a:off x="32689800" y="6400800"/>
            <a:ext cx="0" cy="24886364"/>
          </a:xfrm>
          <a:prstGeom prst="straightConnector1">
            <a:avLst/>
          </a:prstGeom>
          <a:noFill/>
          <a:ln cap="flat" cmpd="tri" w="76200">
            <a:solidFill>
              <a:schemeClr val="dk1"/>
            </a:solidFill>
            <a:prstDash val="solid"/>
            <a:round/>
            <a:headEnd len="med" w="med" type="oval"/>
            <a:tailEnd len="med" w="med" type="oval"/>
          </a:ln>
        </p:spPr>
      </p:cxnSp>
      <p:sp>
        <p:nvSpPr>
          <p:cNvPr id="26" name="Google Shape;26;p3"/>
          <p:cNvSpPr txBox="1"/>
          <p:nvPr>
            <p:ph idx="4" type="body"/>
          </p:nvPr>
        </p:nvSpPr>
        <p:spPr>
          <a:xfrm>
            <a:off x="33147000" y="6590020"/>
            <a:ext cx="9829800" cy="24003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1" i="0" sz="4800" u="sng" cap="none" strike="noStrike">
                <a:solidFill>
                  <a:srgbClr val="5D0025"/>
                </a:solidFill>
                <a:latin typeface="Arial"/>
                <a:ea typeface="Arial"/>
                <a:cs typeface="Arial"/>
                <a:sym typeface="Arial"/>
              </a:defRPr>
            </a:lvl1pPr>
            <a:lvl2pPr indent="-406400" lvl="1" marL="914400" marR="0" rtl="0" algn="l">
              <a:lnSpc>
                <a:spcPct val="10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lnSpc>
                <a:spcPct val="100000"/>
              </a:lnSpc>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2020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a:off x="0" y="0"/>
            <a:ext cx="43891200" cy="5486400"/>
          </a:xfrm>
          <a:prstGeom prst="rect">
            <a:avLst/>
          </a:prstGeom>
          <a:solidFill>
            <a:srgbClr val="5D002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900"/>
              <a:buFont typeface="Arial"/>
              <a:buNone/>
            </a:pPr>
            <a:r>
              <a:t/>
            </a:r>
            <a:endParaRPr b="0" i="0" sz="2900" u="none" cap="none" strike="noStrike">
              <a:solidFill>
                <a:schemeClr val="dk1"/>
              </a:solidFill>
              <a:latin typeface="Arial"/>
              <a:ea typeface="Arial"/>
              <a:cs typeface="Arial"/>
              <a:sym typeface="Arial"/>
            </a:endParaRPr>
          </a:p>
        </p:txBody>
      </p:sp>
      <p:sp>
        <p:nvSpPr>
          <p:cNvPr id="11" name="Google Shape;11;p2"/>
          <p:cNvSpPr/>
          <p:nvPr/>
        </p:nvSpPr>
        <p:spPr>
          <a:xfrm>
            <a:off x="0" y="5257801"/>
            <a:ext cx="43891200" cy="265176"/>
          </a:xfrm>
          <a:prstGeom prst="rect">
            <a:avLst/>
          </a:prstGeom>
          <a:solidFill>
            <a:srgbClr val="8D5067"/>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7258"/>
              <a:buFont typeface="Arial"/>
              <a:buNone/>
            </a:pPr>
            <a:r>
              <a:t/>
            </a:r>
            <a:endParaRPr b="0" i="0" sz="7258" u="none" cap="none" strike="noStrike">
              <a:solidFill>
                <a:schemeClr val="lt1"/>
              </a:solidFill>
              <a:latin typeface="Arial"/>
              <a:ea typeface="Arial"/>
              <a:cs typeface="Arial"/>
              <a:sym typeface="Arial"/>
            </a:endParaRPr>
          </a:p>
        </p:txBody>
      </p:sp>
      <p:sp>
        <p:nvSpPr>
          <p:cNvPr id="12" name="Google Shape;12;p2"/>
          <p:cNvSpPr/>
          <p:nvPr/>
        </p:nvSpPr>
        <p:spPr>
          <a:xfrm>
            <a:off x="0" y="31470600"/>
            <a:ext cx="43891200" cy="1447800"/>
          </a:xfrm>
          <a:prstGeom prst="rect">
            <a:avLst/>
          </a:prstGeom>
          <a:solidFill>
            <a:srgbClr val="5D0025"/>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900"/>
              <a:buFont typeface="Arial"/>
              <a:buNone/>
            </a:pPr>
            <a:r>
              <a:t/>
            </a:r>
            <a:endParaRPr b="0" i="0" sz="2900" u="none" cap="none" strike="noStrike">
              <a:solidFill>
                <a:schemeClr val="dk1"/>
              </a:solidFill>
              <a:latin typeface="Arial"/>
              <a:ea typeface="Arial"/>
              <a:cs typeface="Arial"/>
              <a:sym typeface="Arial"/>
            </a:endParaRPr>
          </a:p>
        </p:txBody>
      </p:sp>
      <p:cxnSp>
        <p:nvCxnSpPr>
          <p:cNvPr id="13" name="Google Shape;13;p2"/>
          <p:cNvCxnSpPr/>
          <p:nvPr/>
        </p:nvCxnSpPr>
        <p:spPr>
          <a:xfrm>
            <a:off x="31543262" y="30837464"/>
            <a:ext cx="0" cy="1588169"/>
          </a:xfrm>
          <a:prstGeom prst="straightConnector1">
            <a:avLst/>
          </a:prstGeom>
          <a:noFill/>
          <a:ln cap="flat" cmpd="sng" w="25400">
            <a:solidFill>
              <a:schemeClr val="lt1"/>
            </a:solidFill>
            <a:prstDash val="dash"/>
            <a:miter lim="800000"/>
            <a:headEnd len="sm" w="sm" type="none"/>
            <a:tailEnd len="sm" w="sm" type="none"/>
          </a:ln>
        </p:spPr>
      </p:cxnSp>
      <p:pic>
        <p:nvPicPr>
          <p:cNvPr descr="TAMU Logo" id="14" name="Google Shape;14;p2"/>
          <p:cNvPicPr preferRelativeResize="0"/>
          <p:nvPr/>
        </p:nvPicPr>
        <p:blipFill rotWithShape="1">
          <a:blip r:embed="rId1">
            <a:alphaModFix/>
          </a:blip>
          <a:srcRect b="0" l="0" r="0" t="0"/>
          <a:stretch/>
        </p:blipFill>
        <p:spPr>
          <a:xfrm>
            <a:off x="0" y="12943"/>
            <a:ext cx="30808245" cy="2503724"/>
          </a:xfrm>
          <a:prstGeom prst="rect">
            <a:avLst/>
          </a:prstGeom>
          <a:noFill/>
          <a:ln>
            <a:noFill/>
          </a:ln>
        </p:spPr>
      </p:pic>
      <p:pic>
        <p:nvPicPr>
          <p:cNvPr id="15" name="Google Shape;15;p2"/>
          <p:cNvPicPr preferRelativeResize="0"/>
          <p:nvPr/>
        </p:nvPicPr>
        <p:blipFill rotWithShape="1">
          <a:blip r:embed="rId1">
            <a:alphaModFix/>
          </a:blip>
          <a:srcRect b="0" l="65059" r="0" t="0"/>
          <a:stretch/>
        </p:blipFill>
        <p:spPr>
          <a:xfrm>
            <a:off x="1" y="31434024"/>
            <a:ext cx="43939859" cy="1471433"/>
          </a:xfrm>
          <a:prstGeom prst="rect">
            <a:avLst/>
          </a:prstGeom>
          <a:noFill/>
          <a:ln>
            <a:noFill/>
          </a:ln>
        </p:spPr>
      </p:pic>
      <p:pic>
        <p:nvPicPr>
          <p:cNvPr id="16" name="Google Shape;16;p2"/>
          <p:cNvPicPr preferRelativeResize="0"/>
          <p:nvPr/>
        </p:nvPicPr>
        <p:blipFill rotWithShape="1">
          <a:blip r:embed="rId1">
            <a:alphaModFix/>
          </a:blip>
          <a:srcRect b="0" l="65059" r="0" t="0"/>
          <a:stretch/>
        </p:blipFill>
        <p:spPr>
          <a:xfrm>
            <a:off x="1" y="5120640"/>
            <a:ext cx="43891201" cy="365760"/>
          </a:xfrm>
          <a:prstGeom prst="rect">
            <a:avLst/>
          </a:prstGeom>
          <a:noFill/>
          <a:ln>
            <a:noFill/>
          </a:ln>
        </p:spPr>
      </p:pic>
      <p:pic>
        <p:nvPicPr>
          <p:cNvPr id="17" name="Google Shape;17;p2"/>
          <p:cNvPicPr preferRelativeResize="0"/>
          <p:nvPr/>
        </p:nvPicPr>
        <p:blipFill rotWithShape="1">
          <a:blip r:embed="rId1">
            <a:alphaModFix/>
          </a:blip>
          <a:srcRect b="0" l="65059" r="0" t="0"/>
          <a:stretch/>
        </p:blipFill>
        <p:spPr>
          <a:xfrm>
            <a:off x="36157168" y="0"/>
            <a:ext cx="7734033" cy="298267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3.png"/><Relationship Id="rId10" Type="http://schemas.openxmlformats.org/officeDocument/2006/relationships/image" Target="../media/image12.png"/><Relationship Id="rId13" Type="http://schemas.openxmlformats.org/officeDocument/2006/relationships/image" Target="../media/image2.png"/><Relationship Id="rId12"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image" Target="../media/image17.png"/><Relationship Id="rId15" Type="http://schemas.openxmlformats.org/officeDocument/2006/relationships/image" Target="../media/image13.png"/><Relationship Id="rId14" Type="http://schemas.openxmlformats.org/officeDocument/2006/relationships/image" Target="../media/image15.png"/><Relationship Id="rId17" Type="http://schemas.openxmlformats.org/officeDocument/2006/relationships/image" Target="../media/image14.png"/><Relationship Id="rId16" Type="http://schemas.openxmlformats.org/officeDocument/2006/relationships/image" Target="../media/image18.jpg"/><Relationship Id="rId5" Type="http://schemas.openxmlformats.org/officeDocument/2006/relationships/image" Target="../media/image7.png"/><Relationship Id="rId19" Type="http://schemas.openxmlformats.org/officeDocument/2006/relationships/image" Target="../media/image16.png"/><Relationship Id="rId6" Type="http://schemas.openxmlformats.org/officeDocument/2006/relationships/image" Target="../media/image11.png"/><Relationship Id="rId18"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 name="Shape 30"/>
        <p:cNvGrpSpPr/>
        <p:nvPr/>
      </p:nvGrpSpPr>
      <p:grpSpPr>
        <a:xfrm>
          <a:off x="0" y="0"/>
          <a:ext cx="0" cy="0"/>
          <a:chOff x="0" y="0"/>
          <a:chExt cx="0" cy="0"/>
        </a:xfrm>
      </p:grpSpPr>
      <p:sp>
        <p:nvSpPr>
          <p:cNvPr id="31" name="Google Shape;31;p1"/>
          <p:cNvSpPr txBox="1"/>
          <p:nvPr>
            <p:ph idx="1" type="body"/>
          </p:nvPr>
        </p:nvSpPr>
        <p:spPr>
          <a:xfrm>
            <a:off x="925480" y="6590021"/>
            <a:ext cx="9829800" cy="2400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a:t>Problem Definition</a:t>
            </a:r>
            <a:endParaRPr/>
          </a:p>
          <a:p>
            <a:pPr indent="457200" lvl="0" marL="0" rtl="0" algn="l">
              <a:lnSpc>
                <a:spcPct val="100000"/>
              </a:lnSpc>
              <a:spcBef>
                <a:spcPts val="0"/>
              </a:spcBef>
              <a:spcAft>
                <a:spcPts val="0"/>
              </a:spcAft>
              <a:buNone/>
            </a:pPr>
            <a:r>
              <a:rPr b="0" lang="en-US" sz="2800" u="none">
                <a:solidFill>
                  <a:schemeClr val="dk1"/>
                </a:solidFill>
              </a:rPr>
              <a:t>Magnetic Resonance Imaging is expensive and time consuming, and these problems are only getting worse. Patient throughput is a key area that can be improved upon, and our project seeks to speed up a </a:t>
            </a:r>
            <a:r>
              <a:rPr b="0" lang="en-US" sz="2800" u="none">
                <a:solidFill>
                  <a:schemeClr val="dk1"/>
                </a:solidFill>
              </a:rPr>
              <a:t>specific</a:t>
            </a:r>
            <a:r>
              <a:rPr b="0" lang="en-US" sz="2800" u="none">
                <a:solidFill>
                  <a:schemeClr val="dk1"/>
                </a:solidFill>
              </a:rPr>
              <a:t> step of the MRI process: cardiac gating. Cardiac gating is the process by which the cardiac cycle is monitored, motion-corrupted parts of scans caused by cardiac movements are removed, and the image is reconstructed using </a:t>
            </a:r>
            <a:r>
              <a:rPr b="0" lang="en-US" sz="2800" u="none">
                <a:solidFill>
                  <a:schemeClr val="dk1"/>
                </a:solidFill>
              </a:rPr>
              <a:t>uncorrupted</a:t>
            </a:r>
            <a:r>
              <a:rPr b="0" lang="en-US" sz="2800" u="none">
                <a:solidFill>
                  <a:schemeClr val="dk1"/>
                </a:solidFill>
              </a:rPr>
              <a:t> parts of scans from areas of low motion.</a:t>
            </a:r>
            <a:endParaRPr b="0" sz="2800" u="none">
              <a:solidFill>
                <a:schemeClr val="dk1"/>
              </a:solidFill>
            </a:endParaRPr>
          </a:p>
          <a:p>
            <a:pPr indent="0" lvl="0" marL="0" rtl="0" algn="l">
              <a:lnSpc>
                <a:spcPct val="100000"/>
              </a:lnSpc>
              <a:spcBef>
                <a:spcPts val="0"/>
              </a:spcBef>
              <a:spcAft>
                <a:spcPts val="0"/>
              </a:spcAft>
              <a:buNone/>
            </a:pPr>
            <a:r>
              <a:rPr b="0" lang="en-US" sz="2800" u="none">
                <a:solidFill>
                  <a:schemeClr val="dk1"/>
                </a:solidFill>
              </a:rPr>
              <a:t>	Currently, this is done by using electrical contacts attached to the chest of the patient. While accurate and proven, this methodolgy can require prior prep time and is often seen as uncomfortable and time-consuming by patients and medical providers alike. Our project seeks to accomplish the cardiac gating process, instead using millimeter wave radar to detect chest movement and heart rate. This allows for patients to get in, get scanned, and get out at a much faster rate than current methods.</a:t>
            </a:r>
            <a:endParaRPr/>
          </a:p>
          <a:p>
            <a:pPr indent="-165100" lvl="1" marL="342900" rtl="0" algn="l">
              <a:lnSpc>
                <a:spcPct val="100000"/>
              </a:lnSpc>
              <a:spcBef>
                <a:spcPts val="0"/>
              </a:spcBef>
              <a:spcAft>
                <a:spcPts val="0"/>
              </a:spcAft>
              <a:buSzPts val="2800"/>
              <a:buNone/>
            </a:pPr>
            <a:r>
              <a:t/>
            </a:r>
            <a:endParaRPr/>
          </a:p>
          <a:p>
            <a:pPr indent="0" lvl="0" marL="0" rtl="0" algn="l">
              <a:lnSpc>
                <a:spcPct val="100000"/>
              </a:lnSpc>
              <a:spcBef>
                <a:spcPts val="0"/>
              </a:spcBef>
              <a:spcAft>
                <a:spcPts val="0"/>
              </a:spcAft>
              <a:buNone/>
            </a:pPr>
            <a:r>
              <a:rPr lang="en-US">
                <a:extLst>
                  <a:ext uri="http://customooxmlschemas.google.com/">
                    <go:slidesCustomData xmlns:go="http://customooxmlschemas.google.com/" textRoundtripDataId="0"/>
                  </a:ext>
                </a:extLst>
              </a:rPr>
              <a:t>Methodology</a:t>
            </a:r>
            <a:endParaRPr/>
          </a:p>
          <a:p>
            <a:pPr indent="45720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rPr b="0" lang="en-US" sz="3200" u="none">
                <a:solidFill>
                  <a:schemeClr val="dk1"/>
                </a:solidFill>
              </a:rPr>
              <a:t>Components</a:t>
            </a:r>
            <a:endParaRPr b="0" sz="3200" u="none">
              <a:solidFill>
                <a:schemeClr val="dk1"/>
              </a:solidFill>
            </a:endParaRPr>
          </a:p>
          <a:p>
            <a:pPr indent="-406400" lvl="0" marL="457200" rtl="0" algn="l">
              <a:spcBef>
                <a:spcPts val="0"/>
              </a:spcBef>
              <a:spcAft>
                <a:spcPts val="0"/>
              </a:spcAft>
              <a:buClr>
                <a:schemeClr val="dk1"/>
              </a:buClr>
              <a:buSzPts val="2800"/>
              <a:buChar char="●"/>
            </a:pPr>
            <a:r>
              <a:rPr b="0" lang="en-US" sz="2800" u="none">
                <a:solidFill>
                  <a:schemeClr val="dk1"/>
                </a:solidFill>
              </a:rPr>
              <a:t>Radar - Extracts chest movements to generate IQ data. This acts as the ECG lead alternative.</a:t>
            </a:r>
            <a:endParaRPr b="0" sz="2800" u="none">
              <a:solidFill>
                <a:schemeClr val="dk1"/>
              </a:solidFill>
            </a:endParaRPr>
          </a:p>
          <a:p>
            <a:pPr indent="-406400" lvl="0" marL="457200" rtl="0" algn="l">
              <a:spcBef>
                <a:spcPts val="0"/>
              </a:spcBef>
              <a:spcAft>
                <a:spcPts val="0"/>
              </a:spcAft>
              <a:buClr>
                <a:schemeClr val="dk1"/>
              </a:buClr>
              <a:buSzPts val="2800"/>
              <a:buChar char="●"/>
            </a:pPr>
            <a:r>
              <a:rPr b="0" lang="en-US" sz="2800" u="none">
                <a:solidFill>
                  <a:schemeClr val="dk1"/>
                </a:solidFill>
              </a:rPr>
              <a:t>MCU - Calculates biometric data and outputs a cardiac waveform.</a:t>
            </a:r>
            <a:endParaRPr b="0" sz="2800" u="none">
              <a:solidFill>
                <a:schemeClr val="dk1"/>
              </a:solidFill>
            </a:endParaRPr>
          </a:p>
          <a:p>
            <a:pPr indent="-406400" lvl="0" marL="457200" rtl="0" algn="l">
              <a:spcBef>
                <a:spcPts val="0"/>
              </a:spcBef>
              <a:spcAft>
                <a:spcPts val="0"/>
              </a:spcAft>
              <a:buClr>
                <a:schemeClr val="dk1"/>
              </a:buClr>
              <a:buSzPts val="2800"/>
              <a:buChar char="●"/>
            </a:pPr>
            <a:r>
              <a:rPr b="0" lang="en-US" sz="2800" u="none">
                <a:solidFill>
                  <a:schemeClr val="dk1"/>
                </a:solidFill>
              </a:rPr>
              <a:t>Scan Editing Software - Compares MRI data with MCU generated cardiogram data to filter unwanted scans</a:t>
            </a:r>
            <a:endParaRPr b="0" sz="2800" u="none">
              <a:solidFill>
                <a:schemeClr val="dk1"/>
              </a:solidFill>
            </a:endParaRPr>
          </a:p>
          <a:p>
            <a:pPr indent="-406400" lvl="0" marL="457200" rtl="0" algn="l">
              <a:spcBef>
                <a:spcPts val="0"/>
              </a:spcBef>
              <a:spcAft>
                <a:spcPts val="0"/>
              </a:spcAft>
              <a:buClr>
                <a:schemeClr val="dk1"/>
              </a:buClr>
              <a:buSzPts val="2800"/>
              <a:buChar char="●"/>
            </a:pPr>
            <a:r>
              <a:rPr b="0" lang="en-US" sz="2800" u="none">
                <a:solidFill>
                  <a:schemeClr val="dk1"/>
                </a:solidFill>
              </a:rPr>
              <a:t>User Interface - Takes final sorted scans from scan filter for patients and doctors to collaborate and mark up the result scan</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p:txBody>
      </p:sp>
      <p:sp>
        <p:nvSpPr>
          <p:cNvPr id="32" name="Google Shape;32;p1"/>
          <p:cNvSpPr txBox="1"/>
          <p:nvPr>
            <p:ph idx="2" type="body"/>
          </p:nvPr>
        </p:nvSpPr>
        <p:spPr>
          <a:xfrm>
            <a:off x="11674281" y="6590020"/>
            <a:ext cx="9829800" cy="2400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lang="en-US"/>
              <a:t>Engineering Analysis</a:t>
            </a:r>
            <a:endParaRPr/>
          </a:p>
          <a:p>
            <a:pPr indent="0" lvl="0" marL="0" rtl="0" algn="l">
              <a:spcBef>
                <a:spcPts val="0"/>
              </a:spcBef>
              <a:spcAft>
                <a:spcPts val="0"/>
              </a:spcAft>
              <a:buNone/>
            </a:pPr>
            <a:r>
              <a:rPr b="0" lang="en-US" sz="2800" u="none">
                <a:solidFill>
                  <a:schemeClr val="dk1"/>
                </a:solidFill>
              </a:rPr>
              <a:t>	During the design process, we faced several challenges, especially when working with MRI machines. From a hardware standpoint, we needed to ensure our system could tolerate the MRI’s magnetic forces. Possible solutions included avoiding magnetic materials, building a magnetic shield housing, or increasing the radar’s distance from the MRI. We chose to optimize the radar’s distance because it kept material costs low while still allowing the use of traditional PCB and DIP methods.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br>
              <a:rPr b="0" lang="en-US" sz="2800" u="none">
                <a:solidFill>
                  <a:schemeClr val="dk1"/>
                </a:solidFill>
              </a:rPr>
            </a:br>
            <a:br>
              <a:rPr b="0" lang="en-US" sz="2800" u="none">
                <a:solidFill>
                  <a:schemeClr val="dk1"/>
                </a:solidFill>
              </a:rPr>
            </a:br>
            <a:br>
              <a:rPr b="0" lang="en-US" sz="2800" u="none">
                <a:solidFill>
                  <a:schemeClr val="dk1"/>
                </a:solidFill>
                <a:highlight>
                  <a:srgbClr val="00FF00"/>
                </a:highlight>
              </a:rPr>
            </a:br>
            <a:endParaRPr b="0" sz="2800" u="none">
              <a:solidFill>
                <a:schemeClr val="dk1"/>
              </a:solidFill>
              <a:highlight>
                <a:srgbClr val="00FF00"/>
              </a:highlight>
            </a:endParaRPr>
          </a:p>
          <a:p>
            <a:pPr indent="0" lvl="0" marL="0" rtl="0" algn="l">
              <a:spcBef>
                <a:spcPts val="0"/>
              </a:spcBef>
              <a:spcAft>
                <a:spcPts val="0"/>
              </a:spcAft>
              <a:buNone/>
            </a:pPr>
            <a:br>
              <a:rPr b="0" lang="en-US" sz="2800" u="none">
                <a:solidFill>
                  <a:schemeClr val="dk1"/>
                </a:solidFill>
              </a:rPr>
            </a:b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rPr b="0" lang="en-US" sz="2800" u="none">
                <a:solidFill>
                  <a:schemeClr val="dk1"/>
                </a:solidFill>
              </a:rPr>
              <a:t>Another key consideration was whether the MRI magnetic field would affect the radar signal. We found this was not a major issue because the two systems operate very differently electromagnetically. MRI relies on a strong static magnetic field and RF excitation in the tens to hundreds of MHz range, while the radar operates at 60 GHz. Since the MRI’s main magnetic field is static, it does not create time-varying energy that would significantly couple into or distort the radar signal. </a:t>
            </a:r>
            <a:endParaRPr b="0" sz="2800" u="none">
              <a:solidFill>
                <a:schemeClr val="dk1"/>
              </a:solidFill>
            </a:endParaRPr>
          </a:p>
          <a:p>
            <a:pPr indent="457200" lvl="0" marL="0" rtl="0" algn="l">
              <a:spcBef>
                <a:spcPts val="0"/>
              </a:spcBef>
              <a:spcAft>
                <a:spcPts val="0"/>
              </a:spcAft>
              <a:buNone/>
            </a:pPr>
            <a:r>
              <a:rPr b="0" lang="en-US" sz="2800" u="none">
                <a:solidFill>
                  <a:schemeClr val="dk1"/>
                </a:solidFill>
              </a:rPr>
              <a:t>To properly filter scans with detected movement, the team first needed a strong understanding of how MRI images are formed. MRI builds images by collecting raw signal data in k-space, where each acquired signal contributes part of the final scan. Cardiac gating then uses a cardiogram as a timing reference to match each k-space line to a point in the cardiac cycle, allowing motion-corrupted data to be rejected and low-motion data to be combined into a clearer image with fewer motion artifacts. </a:t>
            </a:r>
            <a:endParaRPr b="0" sz="2800" u="none">
              <a:solidFill>
                <a:srgbClr val="000000"/>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highlight>
                <a:srgbClr val="00FF00"/>
              </a:highlight>
            </a:endParaRPr>
          </a:p>
          <a:p>
            <a:pPr indent="0" lvl="0" marL="0" rtl="0" algn="l">
              <a:spcBef>
                <a:spcPts val="0"/>
              </a:spcBef>
              <a:spcAft>
                <a:spcPts val="0"/>
              </a:spcAft>
              <a:buNone/>
            </a:pPr>
            <a:r>
              <a:t/>
            </a:r>
            <a:endParaRPr b="0" sz="2800" u="none">
              <a:solidFill>
                <a:schemeClr val="dk1"/>
              </a:solidFill>
              <a:highlight>
                <a:srgbClr val="00FF00"/>
              </a:highlight>
            </a:endParaRPr>
          </a:p>
          <a:p>
            <a:pPr indent="0" lvl="0" marL="0" rtl="0" algn="l">
              <a:spcBef>
                <a:spcPts val="0"/>
              </a:spcBef>
              <a:spcAft>
                <a:spcPts val="0"/>
              </a:spcAft>
              <a:buNone/>
            </a:pPr>
            <a:r>
              <a:t/>
            </a:r>
            <a:endParaRPr b="0" sz="2800" u="none">
              <a:solidFill>
                <a:schemeClr val="dk1"/>
              </a:solidFill>
              <a:highlight>
                <a:srgbClr val="00FF00"/>
              </a:highlight>
            </a:endParaRPr>
          </a:p>
          <a:p>
            <a:pPr indent="0" lvl="0" marL="0" rtl="0" algn="l">
              <a:spcBef>
                <a:spcPts val="0"/>
              </a:spcBef>
              <a:spcAft>
                <a:spcPts val="0"/>
              </a:spcAft>
              <a:buNone/>
            </a:pPr>
            <a:r>
              <a:t/>
            </a:r>
            <a:endParaRPr b="0" sz="2800" u="none">
              <a:solidFill>
                <a:schemeClr val="dk1"/>
              </a:solidFill>
              <a:highlight>
                <a:srgbClr val="00FF00"/>
              </a:highlight>
            </a:endParaRPr>
          </a:p>
          <a:p>
            <a:pPr indent="0" lvl="0" marL="0" rtl="0" algn="l">
              <a:spcBef>
                <a:spcPts val="0"/>
              </a:spcBef>
              <a:spcAft>
                <a:spcPts val="0"/>
              </a:spcAft>
              <a:buNone/>
            </a:pPr>
            <a:r>
              <a:t/>
            </a:r>
            <a:endParaRPr b="0" sz="2800" u="none">
              <a:solidFill>
                <a:schemeClr val="dk1"/>
              </a:solidFill>
              <a:highlight>
                <a:srgbClr val="00FF00"/>
              </a:highlight>
            </a:endParaRPr>
          </a:p>
          <a:p>
            <a:pPr indent="0" lvl="0" marL="0" rtl="0" algn="l">
              <a:spcBef>
                <a:spcPts val="0"/>
              </a:spcBef>
              <a:spcAft>
                <a:spcPts val="0"/>
              </a:spcAft>
              <a:buNone/>
            </a:pPr>
            <a:r>
              <a:t/>
            </a:r>
            <a:endParaRPr b="0" sz="2800" u="none">
              <a:solidFill>
                <a:schemeClr val="dk1"/>
              </a:solidFill>
              <a:highlight>
                <a:srgbClr val="00FF00"/>
              </a:highlight>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br>
              <a:rPr b="0" lang="en-US" sz="2800" u="none">
                <a:solidFill>
                  <a:schemeClr val="dk1"/>
                </a:solidFill>
              </a:rPr>
            </a:br>
            <a:br>
              <a:rPr b="0" lang="en-US" sz="2800" u="none">
                <a:solidFill>
                  <a:schemeClr val="dk1"/>
                </a:solidFill>
              </a:rPr>
            </a:br>
            <a:endParaRPr b="0" sz="2800" u="none">
              <a:solidFill>
                <a:schemeClr val="dk1"/>
              </a:solidFill>
            </a:endParaRPr>
          </a:p>
        </p:txBody>
      </p:sp>
      <p:sp>
        <p:nvSpPr>
          <p:cNvPr id="33" name="Google Shape;33;p1"/>
          <p:cNvSpPr txBox="1"/>
          <p:nvPr>
            <p:ph type="title"/>
          </p:nvPr>
        </p:nvSpPr>
        <p:spPr>
          <a:xfrm>
            <a:off x="7635290" y="556260"/>
            <a:ext cx="28620600" cy="457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None/>
            </a:pPr>
            <a:r>
              <a:rPr lang="en-US"/>
              <a:t>Remote Biometric System</a:t>
            </a:r>
            <a:br>
              <a:rPr lang="en-US"/>
            </a:br>
            <a:r>
              <a:rPr lang="en-US" sz="4800"/>
              <a:t>Simon Becker, Andrew-Joseph Nicolas, Lance Pagaduan, Harin Sankar</a:t>
            </a:r>
            <a:br>
              <a:rPr lang="en-US" sz="4800"/>
            </a:br>
            <a:r>
              <a:rPr lang="en-US" sz="4800"/>
              <a:t>Dr. Steven Wright (ECEN), Hailey Ward</a:t>
            </a:r>
            <a:endParaRPr/>
          </a:p>
        </p:txBody>
      </p:sp>
      <p:sp>
        <p:nvSpPr>
          <p:cNvPr id="34" name="Google Shape;34;p1"/>
          <p:cNvSpPr txBox="1"/>
          <p:nvPr>
            <p:ph idx="3" type="body"/>
          </p:nvPr>
        </p:nvSpPr>
        <p:spPr>
          <a:xfrm>
            <a:off x="22410629" y="6590020"/>
            <a:ext cx="9829800" cy="24003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lang="en-US" sz="2800" u="none">
                <a:solidFill>
                  <a:schemeClr val="dk1"/>
                </a:solidFill>
              </a:rPr>
              <a:t>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spcBef>
                <a:spcPts val="0"/>
              </a:spcBef>
              <a:spcAft>
                <a:spcPts val="0"/>
              </a:spcAft>
              <a:buNone/>
            </a:pPr>
            <a:r>
              <a:t/>
            </a:r>
            <a:endParaRPr b="0" sz="2800" u="none">
              <a:solidFill>
                <a:schemeClr val="dk1"/>
              </a:solidFill>
            </a:endParaRPr>
          </a:p>
          <a:p>
            <a:pPr indent="0" lvl="0" marL="0" rtl="0" algn="l">
              <a:lnSpc>
                <a:spcPct val="100000"/>
              </a:lnSpc>
              <a:spcBef>
                <a:spcPts val="1200"/>
              </a:spcBef>
              <a:spcAft>
                <a:spcPts val="0"/>
              </a:spcAft>
              <a:buNone/>
            </a:pPr>
            <a:r>
              <a:t/>
            </a:r>
            <a:endParaRPr b="0" sz="2800" u="none">
              <a:solidFill>
                <a:schemeClr val="dk1"/>
              </a:solidFill>
            </a:endParaRPr>
          </a:p>
          <a:p>
            <a:pPr indent="0" lvl="0" marL="0" rtl="0" algn="l">
              <a:lnSpc>
                <a:spcPct val="100000"/>
              </a:lnSpc>
              <a:spcBef>
                <a:spcPts val="1200"/>
              </a:spcBef>
              <a:spcAft>
                <a:spcPts val="0"/>
              </a:spcAft>
              <a:buNone/>
            </a:pPr>
            <a:r>
              <a:t/>
            </a:r>
            <a:endParaRPr b="0" sz="2800" u="none">
              <a:solidFill>
                <a:schemeClr val="dk1"/>
              </a:solidFill>
            </a:endParaRPr>
          </a:p>
          <a:p>
            <a:pPr indent="0" lvl="0" marL="0" rtl="0" algn="l">
              <a:lnSpc>
                <a:spcPct val="100000"/>
              </a:lnSpc>
              <a:spcBef>
                <a:spcPts val="1200"/>
              </a:spcBef>
              <a:spcAft>
                <a:spcPts val="0"/>
              </a:spcAft>
              <a:buNone/>
            </a:pPr>
            <a:r>
              <a:rPr b="0" lang="en-US" sz="2800" u="none">
                <a:solidFill>
                  <a:schemeClr val="dk1"/>
                </a:solidFill>
              </a:rPr>
              <a:t>Another challenge of working with MRI systems was handling their data, since many scan files use closed-source, vendor-specific formats. To avoid this issue, and to match the MRI machines available in the lab, we chose the vendor-neutral “.mrd” format. With help from our staff sponsor, Professor Steven Wright, we obtained example scans, including both corrupted and control outputs.</a:t>
            </a:r>
            <a:endParaRPr b="0" sz="2800" u="none">
              <a:solidFill>
                <a:schemeClr val="dk1"/>
              </a:solidFill>
            </a:endParaRPr>
          </a:p>
          <a:p>
            <a:pPr indent="0" lvl="0" marL="0" rtl="0" algn="l">
              <a:lnSpc>
                <a:spcPct val="100000"/>
              </a:lnSpc>
              <a:spcBef>
                <a:spcPts val="1200"/>
              </a:spcBef>
              <a:spcAft>
                <a:spcPts val="0"/>
              </a:spcAft>
              <a:buNone/>
            </a:pPr>
            <a:r>
              <a:rPr b="0" lang="en-US" sz="2800" u="none">
                <a:solidFill>
                  <a:schemeClr val="dk1"/>
                </a:solidFill>
              </a:rPr>
              <a:t>Our final major challenge was limited end-to-end testing. The available MRI machines were too small for human subjects, university rules prohibited testing on people, and scan time was limited because the machine required both funding and an operator. To address this, the team used an orange attached to a string as a phantom. When the string was pulled, the radar detected the motion, which correlated with the motion of the orange.</a:t>
            </a:r>
            <a:endParaRPr b="0" sz="2800" u="none">
              <a:solidFill>
                <a:schemeClr val="dk1"/>
              </a:solidFill>
            </a:endParaRPr>
          </a:p>
          <a:p>
            <a:pPr indent="0" lvl="0" marL="0" rtl="0" algn="l">
              <a:lnSpc>
                <a:spcPct val="100000"/>
              </a:lnSpc>
              <a:spcBef>
                <a:spcPts val="1200"/>
              </a:spcBef>
              <a:spcAft>
                <a:spcPts val="0"/>
              </a:spcAft>
              <a:buNone/>
            </a:pPr>
            <a:r>
              <a:t/>
            </a:r>
            <a:endParaRPr b="0" sz="2800" u="none">
              <a:solidFill>
                <a:schemeClr val="dk1"/>
              </a:solidFill>
            </a:endParaRPr>
          </a:p>
          <a:p>
            <a:pPr indent="0" lvl="0" marL="0" rtl="0" algn="l">
              <a:lnSpc>
                <a:spcPct val="100000"/>
              </a:lnSpc>
              <a:spcBef>
                <a:spcPts val="1200"/>
              </a:spcBef>
              <a:spcAft>
                <a:spcPts val="0"/>
              </a:spcAft>
              <a:buNone/>
            </a:pPr>
            <a:r>
              <a:rPr lang="en-US"/>
              <a:t>Outcomes</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b="0" sz="4000" u="none">
              <a:solidFill>
                <a:schemeClr val="dk1"/>
              </a:solidFill>
            </a:endParaRPr>
          </a:p>
        </p:txBody>
      </p:sp>
      <p:sp>
        <p:nvSpPr>
          <p:cNvPr id="35" name="Google Shape;35;p1"/>
          <p:cNvSpPr txBox="1"/>
          <p:nvPr>
            <p:ph idx="4" type="body"/>
          </p:nvPr>
        </p:nvSpPr>
        <p:spPr>
          <a:xfrm>
            <a:off x="33147000" y="6590020"/>
            <a:ext cx="9829800" cy="2400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Impact</a:t>
            </a:r>
            <a:endParaRPr/>
          </a:p>
          <a:p>
            <a:pPr indent="0" lvl="1" marL="0" rtl="0" algn="l">
              <a:lnSpc>
                <a:spcPct val="100000"/>
              </a:lnSpc>
              <a:spcBef>
                <a:spcPts val="0"/>
              </a:spcBef>
              <a:spcAft>
                <a:spcPts val="0"/>
              </a:spcAft>
              <a:buSzPts val="2800"/>
              <a:buNone/>
            </a:pPr>
            <a:r>
              <a:rPr lang="en-US"/>
              <a:t>	Replacing ECG leads with mmWave radar for MRI cardiac gating would significantly improve scanner throughput and workflow efficiency. Current ECG-based gating requires 5–15 minutes of pre-scan preparation per patient.  A non-contact radar system eliminates this overhead entirely, providing “better patient handling and throughput”</a:t>
            </a:r>
            <a:r>
              <a:rPr baseline="30000" lang="en-US"/>
              <a:t>1</a:t>
            </a:r>
            <a:r>
              <a:rPr lang="en-US"/>
              <a:t>. Eliminating per-patient lead placement time across even 10 cardiac MRI scans per day could recapture 50–150 minutes of scanner time, translating directly into additional exam capacity along the lines of the $22M annual revenue</a:t>
            </a:r>
            <a:r>
              <a:rPr baseline="30000" lang="en-US"/>
              <a:t>2</a:t>
            </a:r>
            <a:r>
              <a:rPr lang="en-US"/>
              <a:t>.</a:t>
            </a:r>
            <a:endParaRPr/>
          </a:p>
          <a:p>
            <a:pPr indent="457200" lvl="1" marL="0" rtl="0" algn="l">
              <a:lnSpc>
                <a:spcPct val="100000"/>
              </a:lnSpc>
              <a:spcBef>
                <a:spcPts val="0"/>
              </a:spcBef>
              <a:spcAft>
                <a:spcPts val="0"/>
              </a:spcAft>
              <a:buSzPts val="2800"/>
              <a:buNone/>
            </a:pPr>
            <a:r>
              <a:rPr lang="en-US"/>
              <a:t>Beyond throughput, mmWave radar gating addresses several clinical failure modes that ECG leads cannot. In patients with cardiac implantable electronic devices, approximately 50–75% of whom will require MRI over their device lifetime</a:t>
            </a:r>
            <a:r>
              <a:rPr baseline="30000" lang="en-US"/>
              <a:t>3</a:t>
            </a:r>
            <a:r>
              <a:rPr lang="en-US"/>
              <a:t>, ECG-based gating requires elaborate pre- and post-scan protocols including device reprogramming and electrophysiology nurse monitoring</a:t>
            </a:r>
            <a:r>
              <a:rPr baseline="30000" lang="en-US"/>
              <a:t>4</a:t>
            </a:r>
            <a:r>
              <a:rPr lang="en-US"/>
              <a:t>. Radar also extends cardiac gating to populations where ECG leads are difficult or contraindicated: burn patients, neonates with fragile skin, and those with abnormal chest geometry, all of whom show elevated ECG gating failure rates in current practice</a:t>
            </a:r>
            <a:r>
              <a:rPr baseline="30000" lang="en-US"/>
              <a:t>5</a:t>
            </a:r>
            <a:r>
              <a:rPr lang="en-US"/>
              <a:t>.</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en-US"/>
              <a:t>References</a:t>
            </a:r>
            <a:endParaRPr/>
          </a:p>
          <a:p>
            <a:pPr indent="-165100" lvl="1" marL="342900" rtl="0" algn="l">
              <a:lnSpc>
                <a:spcPct val="100000"/>
              </a:lnSpc>
              <a:spcBef>
                <a:spcPts val="0"/>
              </a:spcBef>
              <a:spcAft>
                <a:spcPts val="0"/>
              </a:spcAft>
              <a:buSzPts val="2800"/>
              <a:buNone/>
            </a:pPr>
            <a:r>
              <a:rPr lang="en-US" sz="2000">
                <a:solidFill>
                  <a:srgbClr val="000000"/>
                </a:solidFill>
              </a:rPr>
              <a:t>[1] </a:t>
            </a:r>
            <a:r>
              <a:rPr lang="en-US" sz="2000">
                <a:solidFill>
                  <a:srgbClr val="000000"/>
                </a:solidFill>
              </a:rPr>
              <a:t>PMC11806077 — CW Doppler radar MRI feasibility study, </a:t>
            </a:r>
            <a:r>
              <a:rPr i="1" lang="en-US" sz="2000">
                <a:solidFill>
                  <a:srgbClr val="000000"/>
                </a:solidFill>
              </a:rPr>
              <a:t>IEEE TBME</a:t>
            </a:r>
            <a:r>
              <a:rPr lang="en-US" sz="2000">
                <a:solidFill>
                  <a:srgbClr val="000000"/>
                </a:solidFill>
              </a:rPr>
              <a:t>, 2024</a:t>
            </a:r>
            <a:endParaRPr sz="2000">
              <a:solidFill>
                <a:srgbClr val="000000"/>
              </a:solidFill>
            </a:endParaRPr>
          </a:p>
          <a:p>
            <a:pPr indent="-165100" lvl="1" marL="342900" rtl="0" algn="l">
              <a:lnSpc>
                <a:spcPct val="100000"/>
              </a:lnSpc>
              <a:spcBef>
                <a:spcPts val="0"/>
              </a:spcBef>
              <a:spcAft>
                <a:spcPts val="0"/>
              </a:spcAft>
              <a:buSzPts val="2800"/>
              <a:buNone/>
            </a:pPr>
            <a:r>
              <a:rPr lang="en-US" sz="2000">
                <a:solidFill>
                  <a:srgbClr val="000000"/>
                </a:solidFill>
              </a:rPr>
              <a:t>[2] Woolen et al., </a:t>
            </a:r>
            <a:r>
              <a:rPr i="1" lang="en-US" sz="2000">
                <a:solidFill>
                  <a:srgbClr val="000000"/>
                </a:solidFill>
              </a:rPr>
              <a:t>Radiology</a:t>
            </a:r>
            <a:r>
              <a:rPr lang="en-US" sz="2000">
                <a:solidFill>
                  <a:srgbClr val="000000"/>
                </a:solidFill>
              </a:rPr>
              <a:t>, 2024 — Scan time reduction financial/environmental impact</a:t>
            </a:r>
            <a:endParaRPr sz="2000">
              <a:solidFill>
                <a:srgbClr val="000000"/>
              </a:solidFill>
            </a:endParaRPr>
          </a:p>
          <a:p>
            <a:pPr indent="-165100" lvl="1" marL="342900" rtl="0" algn="l">
              <a:lnSpc>
                <a:spcPct val="100000"/>
              </a:lnSpc>
              <a:spcBef>
                <a:spcPts val="0"/>
              </a:spcBef>
              <a:spcAft>
                <a:spcPts val="0"/>
              </a:spcAft>
              <a:buSzPts val="2800"/>
              <a:buNone/>
            </a:pPr>
            <a:r>
              <a:rPr lang="en-US" sz="2000">
                <a:solidFill>
                  <a:srgbClr val="000000"/>
                </a:solidFill>
              </a:rPr>
              <a:t>[3] Canadian Journal of Cardiology joint statement, 2021</a:t>
            </a:r>
            <a:endParaRPr sz="2000">
              <a:solidFill>
                <a:srgbClr val="000000"/>
              </a:solidFill>
            </a:endParaRPr>
          </a:p>
          <a:p>
            <a:pPr indent="-165100" lvl="1" marL="342900" rtl="0" algn="l">
              <a:lnSpc>
                <a:spcPct val="100000"/>
              </a:lnSpc>
              <a:spcBef>
                <a:spcPts val="0"/>
              </a:spcBef>
              <a:spcAft>
                <a:spcPts val="0"/>
              </a:spcAft>
              <a:buSzPts val="2800"/>
              <a:buNone/>
            </a:pPr>
            <a:r>
              <a:rPr lang="en-US" sz="2000">
                <a:solidFill>
                  <a:srgbClr val="000000"/>
                </a:solidFill>
              </a:rPr>
              <a:t>[4] PMC4010944 — MRI in patients with CIEDs, institutional protocol review</a:t>
            </a:r>
            <a:endParaRPr sz="2000">
              <a:solidFill>
                <a:srgbClr val="000000"/>
              </a:solidFill>
            </a:endParaRPr>
          </a:p>
          <a:p>
            <a:pPr indent="-165100" lvl="1" marL="342900" rtl="0" algn="l">
              <a:lnSpc>
                <a:spcPct val="100000"/>
              </a:lnSpc>
              <a:spcBef>
                <a:spcPts val="0"/>
              </a:spcBef>
              <a:spcAft>
                <a:spcPts val="0"/>
              </a:spcAft>
              <a:buSzPts val="2800"/>
              <a:buNone/>
            </a:pPr>
            <a:r>
              <a:rPr lang="en-US" sz="2000"/>
              <a:t>[5] PMC2396326 — Self-gated cardiac cine MRI (ECG limitations overview)</a:t>
            </a:r>
            <a:endParaRPr sz="2000"/>
          </a:p>
          <a:p>
            <a:pPr indent="0" lvl="1" marL="0" rtl="0" algn="l">
              <a:lnSpc>
                <a:spcPct val="100000"/>
              </a:lnSpc>
              <a:spcBef>
                <a:spcPts val="0"/>
              </a:spcBef>
              <a:spcAft>
                <a:spcPts val="0"/>
              </a:spcAft>
              <a:buSzPts val="2800"/>
              <a:buNone/>
            </a:pPr>
            <a:r>
              <a:t/>
            </a:r>
            <a:endParaRPr/>
          </a:p>
          <a:p>
            <a:pPr indent="0" lvl="0" marL="0" rtl="0" algn="l">
              <a:lnSpc>
                <a:spcPct val="100000"/>
              </a:lnSpc>
              <a:spcBef>
                <a:spcPts val="0"/>
              </a:spcBef>
              <a:spcAft>
                <a:spcPts val="0"/>
              </a:spcAft>
              <a:buNone/>
            </a:pPr>
            <a:r>
              <a:rPr lang="en-US"/>
              <a:t>Acknowledgments</a:t>
            </a:r>
            <a:endParaRPr/>
          </a:p>
          <a:p>
            <a:pPr indent="0" lvl="0" marL="0" rtl="0" algn="l">
              <a:spcBef>
                <a:spcPts val="0"/>
              </a:spcBef>
              <a:spcAft>
                <a:spcPts val="0"/>
              </a:spcAft>
              <a:buNone/>
            </a:pPr>
            <a:r>
              <a:rPr b="0" lang="en-US" sz="2800" u="none">
                <a:solidFill>
                  <a:schemeClr val="dk1"/>
                </a:solidFill>
              </a:rPr>
              <a:t>Special thanks to Jacob Ruff, for performing our test scans</a:t>
            </a:r>
            <a:endParaRPr/>
          </a:p>
        </p:txBody>
      </p:sp>
      <p:pic>
        <p:nvPicPr>
          <p:cNvPr id="36" name="Google Shape;36;p1" title="ECENlogo.png"/>
          <p:cNvPicPr preferRelativeResize="0"/>
          <p:nvPr/>
        </p:nvPicPr>
        <p:blipFill>
          <a:blip r:embed="rId3">
            <a:alphaModFix/>
          </a:blip>
          <a:stretch>
            <a:fillRect/>
          </a:stretch>
        </p:blipFill>
        <p:spPr>
          <a:xfrm>
            <a:off x="32240425" y="556246"/>
            <a:ext cx="10248900" cy="1485900"/>
          </a:xfrm>
          <a:prstGeom prst="rect">
            <a:avLst/>
          </a:prstGeom>
          <a:noFill/>
          <a:ln>
            <a:noFill/>
          </a:ln>
        </p:spPr>
      </p:pic>
      <p:pic>
        <p:nvPicPr>
          <p:cNvPr id="37" name="Google Shape;37;p1"/>
          <p:cNvPicPr preferRelativeResize="0"/>
          <p:nvPr/>
        </p:nvPicPr>
        <p:blipFill rotWithShape="1">
          <a:blip r:embed="rId4">
            <a:alphaModFix/>
          </a:blip>
          <a:srcRect b="21855" l="0" r="50062" t="29329"/>
          <a:stretch/>
        </p:blipFill>
        <p:spPr>
          <a:xfrm>
            <a:off x="37984051" y="14815575"/>
            <a:ext cx="2649975" cy="2090125"/>
          </a:xfrm>
          <a:prstGeom prst="rect">
            <a:avLst/>
          </a:prstGeom>
          <a:noFill/>
          <a:ln>
            <a:noFill/>
          </a:ln>
        </p:spPr>
      </p:pic>
      <p:pic>
        <p:nvPicPr>
          <p:cNvPr id="38" name="Google Shape;38;p1"/>
          <p:cNvPicPr preferRelativeResize="0"/>
          <p:nvPr/>
        </p:nvPicPr>
        <p:blipFill rotWithShape="1">
          <a:blip r:embed="rId5">
            <a:alphaModFix/>
          </a:blip>
          <a:srcRect b="22962" l="0" r="50062" t="26935"/>
          <a:stretch/>
        </p:blipFill>
        <p:spPr>
          <a:xfrm>
            <a:off x="41302375" y="11997100"/>
            <a:ext cx="1915200" cy="1842650"/>
          </a:xfrm>
          <a:prstGeom prst="rect">
            <a:avLst/>
          </a:prstGeom>
          <a:noFill/>
          <a:ln>
            <a:noFill/>
          </a:ln>
        </p:spPr>
      </p:pic>
      <p:pic>
        <p:nvPicPr>
          <p:cNvPr id="39" name="Google Shape;39;p1"/>
          <p:cNvPicPr preferRelativeResize="0"/>
          <p:nvPr/>
        </p:nvPicPr>
        <p:blipFill rotWithShape="1">
          <a:blip r:embed="rId6">
            <a:alphaModFix/>
          </a:blip>
          <a:srcRect b="20461" l="0" r="15340" t="11990"/>
          <a:stretch/>
        </p:blipFill>
        <p:spPr>
          <a:xfrm>
            <a:off x="41302375" y="9463950"/>
            <a:ext cx="1915200" cy="1841400"/>
          </a:xfrm>
          <a:prstGeom prst="rect">
            <a:avLst/>
          </a:prstGeom>
          <a:noFill/>
          <a:ln>
            <a:noFill/>
          </a:ln>
        </p:spPr>
      </p:pic>
      <p:pic>
        <p:nvPicPr>
          <p:cNvPr id="40" name="Google Shape;40;p1"/>
          <p:cNvPicPr preferRelativeResize="0"/>
          <p:nvPr/>
        </p:nvPicPr>
        <p:blipFill rotWithShape="1">
          <a:blip r:embed="rId7">
            <a:alphaModFix/>
          </a:blip>
          <a:srcRect b="24677" l="0" r="47526" t="25198"/>
          <a:stretch/>
        </p:blipFill>
        <p:spPr>
          <a:xfrm>
            <a:off x="41302375" y="7230725"/>
            <a:ext cx="1915200" cy="1635625"/>
          </a:xfrm>
          <a:prstGeom prst="rect">
            <a:avLst/>
          </a:prstGeom>
          <a:noFill/>
          <a:ln>
            <a:noFill/>
          </a:ln>
        </p:spPr>
      </p:pic>
      <p:pic>
        <p:nvPicPr>
          <p:cNvPr id="41" name="Google Shape;41;p1" title="Block Diagram Presentation.png"/>
          <p:cNvPicPr preferRelativeResize="0"/>
          <p:nvPr/>
        </p:nvPicPr>
        <p:blipFill>
          <a:blip r:embed="rId8">
            <a:alphaModFix/>
          </a:blip>
          <a:stretch>
            <a:fillRect/>
          </a:stretch>
        </p:blipFill>
        <p:spPr>
          <a:xfrm>
            <a:off x="1682075" y="16482850"/>
            <a:ext cx="8316600" cy="4804915"/>
          </a:xfrm>
          <a:prstGeom prst="rect">
            <a:avLst/>
          </a:prstGeom>
          <a:noFill/>
          <a:ln>
            <a:noFill/>
          </a:ln>
        </p:spPr>
      </p:pic>
      <p:sp>
        <p:nvSpPr>
          <p:cNvPr id="42" name="Google Shape;42;p1"/>
          <p:cNvSpPr txBox="1"/>
          <p:nvPr/>
        </p:nvSpPr>
        <p:spPr>
          <a:xfrm>
            <a:off x="22613563" y="24001700"/>
            <a:ext cx="3288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600">
                <a:solidFill>
                  <a:schemeClr val="dk2"/>
                </a:solidFill>
              </a:rPr>
              <a:t>Radar Results</a:t>
            </a:r>
            <a:endParaRPr b="1" sz="3600">
              <a:solidFill>
                <a:schemeClr val="dk2"/>
              </a:solidFill>
            </a:endParaRPr>
          </a:p>
        </p:txBody>
      </p:sp>
      <p:sp>
        <p:nvSpPr>
          <p:cNvPr id="43" name="Google Shape;43;p1"/>
          <p:cNvSpPr txBox="1"/>
          <p:nvPr/>
        </p:nvSpPr>
        <p:spPr>
          <a:xfrm>
            <a:off x="33146975" y="6301700"/>
            <a:ext cx="4439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600">
                <a:solidFill>
                  <a:schemeClr val="dk2"/>
                </a:solidFill>
              </a:rPr>
              <a:t>Scan Filter</a:t>
            </a:r>
            <a:r>
              <a:rPr b="1" lang="en-US" sz="3600">
                <a:solidFill>
                  <a:schemeClr val="dk2"/>
                </a:solidFill>
              </a:rPr>
              <a:t> Results</a:t>
            </a:r>
            <a:endParaRPr b="1" sz="3600">
              <a:solidFill>
                <a:schemeClr val="dk2"/>
              </a:solidFill>
            </a:endParaRPr>
          </a:p>
        </p:txBody>
      </p:sp>
      <p:pic>
        <p:nvPicPr>
          <p:cNvPr id="44" name="Google Shape;44;p1"/>
          <p:cNvPicPr preferRelativeResize="0"/>
          <p:nvPr/>
        </p:nvPicPr>
        <p:blipFill>
          <a:blip r:embed="rId9">
            <a:alphaModFix/>
          </a:blip>
          <a:stretch>
            <a:fillRect/>
          </a:stretch>
        </p:blipFill>
        <p:spPr>
          <a:xfrm>
            <a:off x="24783125" y="24950325"/>
            <a:ext cx="5770601" cy="6285221"/>
          </a:xfrm>
          <a:prstGeom prst="rect">
            <a:avLst/>
          </a:prstGeom>
          <a:noFill/>
          <a:ln>
            <a:noFill/>
          </a:ln>
        </p:spPr>
      </p:pic>
      <p:pic>
        <p:nvPicPr>
          <p:cNvPr id="45" name="Google Shape;45;p1"/>
          <p:cNvPicPr preferRelativeResize="0"/>
          <p:nvPr/>
        </p:nvPicPr>
        <p:blipFill>
          <a:blip r:embed="rId10">
            <a:alphaModFix/>
          </a:blip>
          <a:stretch>
            <a:fillRect/>
          </a:stretch>
        </p:blipFill>
        <p:spPr>
          <a:xfrm>
            <a:off x="33681450" y="6897975"/>
            <a:ext cx="7444950" cy="2188100"/>
          </a:xfrm>
          <a:prstGeom prst="rect">
            <a:avLst/>
          </a:prstGeom>
          <a:noFill/>
          <a:ln>
            <a:noFill/>
          </a:ln>
        </p:spPr>
      </p:pic>
      <p:pic>
        <p:nvPicPr>
          <p:cNvPr id="46" name="Google Shape;46;p1"/>
          <p:cNvPicPr preferRelativeResize="0"/>
          <p:nvPr/>
        </p:nvPicPr>
        <p:blipFill>
          <a:blip r:embed="rId11">
            <a:alphaModFix/>
          </a:blip>
          <a:stretch>
            <a:fillRect/>
          </a:stretch>
        </p:blipFill>
        <p:spPr>
          <a:xfrm>
            <a:off x="33681444" y="9141775"/>
            <a:ext cx="7444956" cy="2188100"/>
          </a:xfrm>
          <a:prstGeom prst="rect">
            <a:avLst/>
          </a:prstGeom>
          <a:noFill/>
          <a:ln>
            <a:noFill/>
          </a:ln>
        </p:spPr>
      </p:pic>
      <p:pic>
        <p:nvPicPr>
          <p:cNvPr id="47" name="Google Shape;47;p1"/>
          <p:cNvPicPr preferRelativeResize="0"/>
          <p:nvPr/>
        </p:nvPicPr>
        <p:blipFill>
          <a:blip r:embed="rId12">
            <a:alphaModFix/>
          </a:blip>
          <a:stretch>
            <a:fillRect/>
          </a:stretch>
        </p:blipFill>
        <p:spPr>
          <a:xfrm>
            <a:off x="11804388" y="24950325"/>
            <a:ext cx="9557124" cy="5888224"/>
          </a:xfrm>
          <a:prstGeom prst="rect">
            <a:avLst/>
          </a:prstGeom>
          <a:noFill/>
          <a:ln>
            <a:noFill/>
          </a:ln>
        </p:spPr>
      </p:pic>
      <p:pic>
        <p:nvPicPr>
          <p:cNvPr id="48" name="Google Shape;48;p1"/>
          <p:cNvPicPr preferRelativeResize="0"/>
          <p:nvPr/>
        </p:nvPicPr>
        <p:blipFill>
          <a:blip r:embed="rId13">
            <a:alphaModFix/>
          </a:blip>
          <a:stretch>
            <a:fillRect/>
          </a:stretch>
        </p:blipFill>
        <p:spPr>
          <a:xfrm>
            <a:off x="33624225" y="11824375"/>
            <a:ext cx="7444950" cy="2188095"/>
          </a:xfrm>
          <a:prstGeom prst="rect">
            <a:avLst/>
          </a:prstGeom>
          <a:noFill/>
          <a:ln>
            <a:noFill/>
          </a:ln>
        </p:spPr>
      </p:pic>
      <p:pic>
        <p:nvPicPr>
          <p:cNvPr id="49" name="Google Shape;49;p1"/>
          <p:cNvPicPr preferRelativeResize="0"/>
          <p:nvPr/>
        </p:nvPicPr>
        <p:blipFill>
          <a:blip r:embed="rId14">
            <a:alphaModFix/>
          </a:blip>
          <a:stretch>
            <a:fillRect/>
          </a:stretch>
        </p:blipFill>
        <p:spPr>
          <a:xfrm>
            <a:off x="1967675" y="25826625"/>
            <a:ext cx="7103891" cy="5491224"/>
          </a:xfrm>
          <a:prstGeom prst="rect">
            <a:avLst/>
          </a:prstGeom>
          <a:noFill/>
          <a:ln>
            <a:noFill/>
          </a:ln>
        </p:spPr>
      </p:pic>
      <p:pic>
        <p:nvPicPr>
          <p:cNvPr id="50" name="Google Shape;50;p1"/>
          <p:cNvPicPr preferRelativeResize="0"/>
          <p:nvPr/>
        </p:nvPicPr>
        <p:blipFill>
          <a:blip r:embed="rId15">
            <a:alphaModFix/>
          </a:blip>
          <a:stretch>
            <a:fillRect/>
          </a:stretch>
        </p:blipFill>
        <p:spPr>
          <a:xfrm>
            <a:off x="24461275" y="18987050"/>
            <a:ext cx="6414312" cy="4804926"/>
          </a:xfrm>
          <a:prstGeom prst="rect">
            <a:avLst/>
          </a:prstGeom>
          <a:noFill/>
          <a:ln>
            <a:noFill/>
          </a:ln>
        </p:spPr>
      </p:pic>
      <p:pic>
        <p:nvPicPr>
          <p:cNvPr id="51" name="Google Shape;51;p1" title="PCB.jpg"/>
          <p:cNvPicPr preferRelativeResize="0"/>
          <p:nvPr/>
        </p:nvPicPr>
        <p:blipFill>
          <a:blip r:embed="rId16">
            <a:alphaModFix/>
          </a:blip>
          <a:stretch>
            <a:fillRect/>
          </a:stretch>
        </p:blipFill>
        <p:spPr>
          <a:xfrm>
            <a:off x="13250250" y="11329875"/>
            <a:ext cx="5908800" cy="5805875"/>
          </a:xfrm>
          <a:prstGeom prst="rect">
            <a:avLst/>
          </a:prstGeom>
          <a:noFill/>
          <a:ln>
            <a:noFill/>
          </a:ln>
        </p:spPr>
      </p:pic>
      <p:pic>
        <p:nvPicPr>
          <p:cNvPr id="52" name="Google Shape;52;p1"/>
          <p:cNvPicPr preferRelativeResize="0"/>
          <p:nvPr/>
        </p:nvPicPr>
        <p:blipFill>
          <a:blip r:embed="rId17">
            <a:alphaModFix/>
          </a:blip>
          <a:stretch>
            <a:fillRect/>
          </a:stretch>
        </p:blipFill>
        <p:spPr>
          <a:xfrm>
            <a:off x="24040813" y="6301708"/>
            <a:ext cx="7103899" cy="4204816"/>
          </a:xfrm>
          <a:prstGeom prst="rect">
            <a:avLst/>
          </a:prstGeom>
          <a:noFill/>
          <a:ln>
            <a:noFill/>
          </a:ln>
        </p:spPr>
      </p:pic>
      <p:sp>
        <p:nvSpPr>
          <p:cNvPr id="53" name="Google Shape;53;p1"/>
          <p:cNvSpPr txBox="1"/>
          <p:nvPr/>
        </p:nvSpPr>
        <p:spPr>
          <a:xfrm>
            <a:off x="38524625" y="14402150"/>
            <a:ext cx="19152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Reference Scan</a:t>
            </a:r>
            <a:endParaRPr/>
          </a:p>
        </p:txBody>
      </p:sp>
      <p:sp>
        <p:nvSpPr>
          <p:cNvPr id="54" name="Google Shape;54;p1"/>
          <p:cNvSpPr txBox="1"/>
          <p:nvPr/>
        </p:nvSpPr>
        <p:spPr>
          <a:xfrm>
            <a:off x="41069163" y="14402150"/>
            <a:ext cx="19152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Reconstructed Scan</a:t>
            </a:r>
            <a:endParaRPr/>
          </a:p>
          <a:p>
            <a:pPr indent="0" lvl="0" marL="0" rtl="0" algn="l">
              <a:spcBef>
                <a:spcPts val="0"/>
              </a:spcBef>
              <a:spcAft>
                <a:spcPts val="0"/>
              </a:spcAft>
              <a:buNone/>
            </a:pPr>
            <a:r>
              <a:t/>
            </a:r>
            <a:endParaRPr/>
          </a:p>
        </p:txBody>
      </p:sp>
      <p:sp>
        <p:nvSpPr>
          <p:cNvPr id="55" name="Google Shape;55;p1"/>
          <p:cNvSpPr txBox="1"/>
          <p:nvPr/>
        </p:nvSpPr>
        <p:spPr>
          <a:xfrm>
            <a:off x="41886175" y="6853175"/>
            <a:ext cx="1309800" cy="4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Scan 1</a:t>
            </a:r>
            <a:endParaRPr/>
          </a:p>
        </p:txBody>
      </p:sp>
      <p:sp>
        <p:nvSpPr>
          <p:cNvPr id="56" name="Google Shape;56;p1"/>
          <p:cNvSpPr txBox="1"/>
          <p:nvPr/>
        </p:nvSpPr>
        <p:spPr>
          <a:xfrm>
            <a:off x="41886175" y="9141775"/>
            <a:ext cx="11310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Scan 2 </a:t>
            </a:r>
            <a:endParaRPr/>
          </a:p>
        </p:txBody>
      </p:sp>
      <p:sp>
        <p:nvSpPr>
          <p:cNvPr id="57" name="Google Shape;57;p1"/>
          <p:cNvSpPr txBox="1"/>
          <p:nvPr/>
        </p:nvSpPr>
        <p:spPr>
          <a:xfrm>
            <a:off x="41737350" y="11662175"/>
            <a:ext cx="1309800" cy="19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Scan 3 </a:t>
            </a:r>
            <a:endParaRPr/>
          </a:p>
        </p:txBody>
      </p:sp>
      <p:pic>
        <p:nvPicPr>
          <p:cNvPr id="58" name="Google Shape;58;p1"/>
          <p:cNvPicPr preferRelativeResize="0"/>
          <p:nvPr/>
        </p:nvPicPr>
        <p:blipFill>
          <a:blip r:embed="rId18">
            <a:alphaModFix/>
          </a:blip>
          <a:stretch>
            <a:fillRect/>
          </a:stretch>
        </p:blipFill>
        <p:spPr>
          <a:xfrm>
            <a:off x="33146976" y="14402150"/>
            <a:ext cx="4799450" cy="1188375"/>
          </a:xfrm>
          <a:prstGeom prst="rect">
            <a:avLst/>
          </a:prstGeom>
          <a:noFill/>
          <a:ln>
            <a:noFill/>
          </a:ln>
        </p:spPr>
      </p:pic>
      <p:sp>
        <p:nvSpPr>
          <p:cNvPr id="59" name="Google Shape;59;p1"/>
          <p:cNvSpPr txBox="1"/>
          <p:nvPr/>
        </p:nvSpPr>
        <p:spPr>
          <a:xfrm>
            <a:off x="33146975" y="15863100"/>
            <a:ext cx="32886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t>SSIM =  0.849385</a:t>
            </a:r>
            <a:endParaRPr sz="2800"/>
          </a:p>
        </p:txBody>
      </p:sp>
      <p:pic>
        <p:nvPicPr>
          <p:cNvPr id="60" name="Google Shape;60;p1"/>
          <p:cNvPicPr preferRelativeResize="0"/>
          <p:nvPr/>
        </p:nvPicPr>
        <p:blipFill>
          <a:blip r:embed="rId19">
            <a:alphaModFix/>
          </a:blip>
          <a:stretch>
            <a:fillRect/>
          </a:stretch>
        </p:blipFill>
        <p:spPr>
          <a:xfrm>
            <a:off x="40835025" y="14815575"/>
            <a:ext cx="2449300" cy="2100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esearch Poster Template">
  <a:themeElements>
    <a:clrScheme name="Custom 2">
      <a:dk1>
        <a:srgbClr val="333333"/>
      </a:dk1>
      <a:lt1>
        <a:srgbClr val="FFFFFF"/>
      </a:lt1>
      <a:dk2>
        <a:srgbClr val="5D0025"/>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2026-04-08T21:05:06Z</dcterms:created>
  <dc:creator>Lagoudas, Magdalini 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a-panorama-remediation-history">
    <vt:lpwstr>[{"isReadingOrderVerified":"true","pageNumber":0,"geomIndex":-1,"issueTypeId":"ReadingOrderIssue:PPTX","dismiss":false,"pageNumbers":[1],"coordinatesList":[[10.0,10.0,2.0,2.0]]},{"title":"Poster template for EPS","pageNumber":0,"geomIndex":-1,"issueTypeId":"MissingTitleIssue:PPTX","dismiss":false,"pageNumbers":[1],"coordinatesList":[[10.0,10.0,2.0,2.0]]}]</vt:lpwstr>
  </property>
  <property fmtid="{D5CDD505-2E9C-101B-9397-08002B2CF9AE}" pid="3" name="ReadingOrderVerifiedPages">
    <vt:lpwstr>1</vt:lpwstr>
  </property>
</Properties>
</file>